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lock Grotesk" charset="1" panose="00000600000000000000"/>
      <p:regular r:id="rId20"/>
    </p:embeddedFont>
    <p:embeddedFont>
      <p:font typeface="Work Sans" charset="1" panose="00000000000000000000"/>
      <p:regular r:id="rId21"/>
    </p:embeddedFont>
    <p:embeddedFont>
      <p:font typeface="Work Sans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33333">
              <a:srgbClr val="29464A">
                <a:alpha val="100000"/>
              </a:srgbClr>
            </a:gs>
            <a:gs pos="66667">
              <a:srgbClr val="6D8080">
                <a:alpha val="100000"/>
              </a:srgbClr>
            </a:gs>
            <a:gs pos="100000">
              <a:srgbClr val="BDCBB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666413" y="-1073776"/>
            <a:ext cx="6641227" cy="6641227"/>
          </a:xfrm>
          <a:custGeom>
            <a:avLst/>
            <a:gdLst/>
            <a:ahLst/>
            <a:cxnLst/>
            <a:rect r="r" b="b" t="t" l="l"/>
            <a:pathLst>
              <a:path h="6641227" w="6641227">
                <a:moveTo>
                  <a:pt x="0" y="0"/>
                </a:moveTo>
                <a:lnTo>
                  <a:pt x="6641227" y="0"/>
                </a:lnTo>
                <a:lnTo>
                  <a:pt x="6641227" y="6641227"/>
                </a:lnTo>
                <a:lnTo>
                  <a:pt x="0" y="664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809593"/>
            <a:ext cx="16230600" cy="2260469"/>
          </a:xfrm>
          <a:prstGeom prst="rect">
            <a:avLst/>
          </a:prstGeom>
        </p:spPr>
        <p:txBody>
          <a:bodyPr anchor="t" rtlCol="false" tIns="0" lIns="0" bIns="0" rIns="0">
            <a:spAutoFit/>
          </a:bodyPr>
          <a:lstStyle/>
          <a:p>
            <a:pPr algn="l">
              <a:lnSpc>
                <a:spcPts val="8946"/>
              </a:lnSpc>
            </a:pPr>
            <a:r>
              <a:rPr lang="en-US" sz="7100">
                <a:solidFill>
                  <a:srgbClr val="FFFFFF"/>
                </a:solidFill>
                <a:latin typeface="Glock Grotesk"/>
                <a:ea typeface="Glock Grotesk"/>
                <a:cs typeface="Glock Grotesk"/>
                <a:sym typeface="Glock Grotesk"/>
              </a:rPr>
              <a:t>Cadence Financial Group</a:t>
            </a:r>
          </a:p>
          <a:p>
            <a:pPr algn="l">
              <a:lnSpc>
                <a:spcPts val="8946"/>
              </a:lnSpc>
            </a:pPr>
          </a:p>
        </p:txBody>
      </p:sp>
      <p:grpSp>
        <p:nvGrpSpPr>
          <p:cNvPr name="Group 4" id="4"/>
          <p:cNvGrpSpPr/>
          <p:nvPr/>
        </p:nvGrpSpPr>
        <p:grpSpPr>
          <a:xfrm rot="0">
            <a:off x="1028700" y="8320934"/>
            <a:ext cx="16230600" cy="1508631"/>
            <a:chOff x="0" y="0"/>
            <a:chExt cx="4274726" cy="397335"/>
          </a:xfrm>
        </p:grpSpPr>
        <p:sp>
          <p:nvSpPr>
            <p:cNvPr name="Freeform 5" id="5"/>
            <p:cNvSpPr/>
            <p:nvPr/>
          </p:nvSpPr>
          <p:spPr>
            <a:xfrm flipH="false" flipV="false" rot="0">
              <a:off x="0" y="0"/>
              <a:ext cx="4274726" cy="397335"/>
            </a:xfrm>
            <a:custGeom>
              <a:avLst/>
              <a:gdLst/>
              <a:ahLst/>
              <a:cxnLst/>
              <a:rect r="r" b="b" t="t" l="l"/>
              <a:pathLst>
                <a:path h="397335" w="4274726">
                  <a:moveTo>
                    <a:pt x="4770" y="0"/>
                  </a:moveTo>
                  <a:lnTo>
                    <a:pt x="4269956" y="0"/>
                  </a:lnTo>
                  <a:cubicBezTo>
                    <a:pt x="4271221" y="0"/>
                    <a:pt x="4272434" y="503"/>
                    <a:pt x="4273329" y="1397"/>
                  </a:cubicBezTo>
                  <a:cubicBezTo>
                    <a:pt x="4274223" y="2292"/>
                    <a:pt x="4274726" y="3505"/>
                    <a:pt x="4274726" y="4770"/>
                  </a:cubicBezTo>
                  <a:lnTo>
                    <a:pt x="4274726" y="392565"/>
                  </a:lnTo>
                  <a:cubicBezTo>
                    <a:pt x="4274726" y="393830"/>
                    <a:pt x="4274223" y="395043"/>
                    <a:pt x="4273329" y="395938"/>
                  </a:cubicBezTo>
                  <a:cubicBezTo>
                    <a:pt x="4272434" y="396832"/>
                    <a:pt x="4271221" y="397335"/>
                    <a:pt x="4269956" y="397335"/>
                  </a:cubicBezTo>
                  <a:lnTo>
                    <a:pt x="4770" y="397335"/>
                  </a:lnTo>
                  <a:cubicBezTo>
                    <a:pt x="3505" y="397335"/>
                    <a:pt x="2292" y="396832"/>
                    <a:pt x="1397" y="395938"/>
                  </a:cubicBezTo>
                  <a:cubicBezTo>
                    <a:pt x="503" y="395043"/>
                    <a:pt x="0" y="393830"/>
                    <a:pt x="0" y="392565"/>
                  </a:cubicBezTo>
                  <a:lnTo>
                    <a:pt x="0" y="4770"/>
                  </a:lnTo>
                  <a:cubicBezTo>
                    <a:pt x="0" y="3505"/>
                    <a:pt x="503" y="2292"/>
                    <a:pt x="1397" y="1397"/>
                  </a:cubicBezTo>
                  <a:cubicBezTo>
                    <a:pt x="2292" y="503"/>
                    <a:pt x="3505" y="0"/>
                    <a:pt x="4770" y="0"/>
                  </a:cubicBezTo>
                  <a:close/>
                </a:path>
              </a:pathLst>
            </a:custGeom>
            <a:solidFill>
              <a:srgbClr val="FFFFFF">
                <a:alpha val="29804"/>
              </a:srgbClr>
            </a:solidFill>
            <a:ln w="9525" cap="sq">
              <a:solidFill>
                <a:srgbClr val="9EB49F">
                  <a:alpha val="29804"/>
                </a:srgbClr>
              </a:solidFill>
              <a:prstDash val="solid"/>
              <a:miter/>
            </a:ln>
          </p:spPr>
        </p:sp>
        <p:sp>
          <p:nvSpPr>
            <p:cNvPr name="TextBox 6" id="6"/>
            <p:cNvSpPr txBox="true"/>
            <p:nvPr/>
          </p:nvSpPr>
          <p:spPr>
            <a:xfrm>
              <a:off x="0" y="-76200"/>
              <a:ext cx="4274726" cy="473535"/>
            </a:xfrm>
            <a:prstGeom prst="rect">
              <a:avLst/>
            </a:prstGeom>
          </p:spPr>
          <p:txBody>
            <a:bodyPr anchor="ctr" rtlCol="false" tIns="50800" lIns="50800" bIns="50800" rIns="50800"/>
            <a:lstStyle/>
            <a:p>
              <a:pPr algn="ctr" marL="0" indent="0" lvl="0">
                <a:lnSpc>
                  <a:spcPts val="4479"/>
                </a:lnSpc>
                <a:spcBef>
                  <a:spcPct val="0"/>
                </a:spcBef>
              </a:pPr>
              <a:r>
                <a:rPr lang="en-US" sz="3199">
                  <a:solidFill>
                    <a:srgbClr val="000000">
                      <a:alpha val="29804"/>
                    </a:srgbClr>
                  </a:solidFill>
                  <a:latin typeface="Work Sans"/>
                  <a:ea typeface="Work Sans"/>
                  <a:cs typeface="Work Sans"/>
                  <a:sym typeface="Work Sans"/>
                </a:rPr>
                <a:t>Mahi Bagla (24BCI0291), Sahib Singh (24BCI0292), Aarav Gupta (24BCI0293), Hardik Vikas Jain (24BCI0294), Rupanshu (24BCI0308)</a:t>
              </a:r>
            </a:p>
          </p:txBody>
        </p:sp>
      </p:grpSp>
      <p:sp>
        <p:nvSpPr>
          <p:cNvPr name="TextBox 7" id="7"/>
          <p:cNvSpPr txBox="true"/>
          <p:nvPr/>
        </p:nvSpPr>
        <p:spPr>
          <a:xfrm rot="0">
            <a:off x="1028700" y="6877915"/>
            <a:ext cx="11349482" cy="632460"/>
          </a:xfrm>
          <a:prstGeom prst="rect">
            <a:avLst/>
          </a:prstGeom>
        </p:spPr>
        <p:txBody>
          <a:bodyPr anchor="t" rtlCol="false" tIns="0" lIns="0" bIns="0" rIns="0">
            <a:spAutoFit/>
          </a:bodyPr>
          <a:lstStyle/>
          <a:p>
            <a:pPr algn="l">
              <a:lnSpc>
                <a:spcPts val="5040"/>
              </a:lnSpc>
              <a:spcBef>
                <a:spcPct val="0"/>
              </a:spcBef>
            </a:pPr>
            <a:r>
              <a:rPr lang="en-US" sz="3600">
                <a:solidFill>
                  <a:srgbClr val="FFFFFF"/>
                </a:solidFill>
                <a:latin typeface="Work Sans"/>
                <a:ea typeface="Work Sans"/>
                <a:cs typeface="Work Sans"/>
                <a:sym typeface="Work Sans"/>
              </a:rPr>
              <a:t>Case Study 2 - Text Analysis &amp; PII Detection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0860551" y="4732669"/>
            <a:ext cx="7744260" cy="7110638"/>
          </a:xfrm>
          <a:custGeom>
            <a:avLst/>
            <a:gdLst/>
            <a:ahLst/>
            <a:cxnLst/>
            <a:rect r="r" b="b" t="t" l="l"/>
            <a:pathLst>
              <a:path h="7110638" w="7744260">
                <a:moveTo>
                  <a:pt x="0" y="0"/>
                </a:moveTo>
                <a:lnTo>
                  <a:pt x="7744260" y="0"/>
                </a:lnTo>
                <a:lnTo>
                  <a:pt x="7744260" y="7110638"/>
                </a:lnTo>
                <a:lnTo>
                  <a:pt x="0" y="7110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623024"/>
            <a:ext cx="16230600" cy="7172325"/>
          </a:xfrm>
          <a:prstGeom prst="rect">
            <a:avLst/>
          </a:prstGeom>
        </p:spPr>
        <p:txBody>
          <a:bodyPr anchor="t" rtlCol="false" tIns="0" lIns="0" bIns="0" rIns="0">
            <a:spAutoFit/>
          </a:bodyPr>
          <a:lstStyle/>
          <a:p>
            <a:pPr algn="l">
              <a:lnSpc>
                <a:spcPts val="3599"/>
              </a:lnSpc>
            </a:pPr>
            <a:r>
              <a:rPr lang="en-US" sz="2999">
                <a:solidFill>
                  <a:srgbClr val="FFFFFF"/>
                </a:solidFill>
                <a:latin typeface="Work Sans"/>
                <a:ea typeface="Work Sans"/>
                <a:cs typeface="Work Sans"/>
                <a:sym typeface="Work Sans"/>
              </a:rPr>
              <a:t>Cadence Financial Group uses an AI document analysis agent to review business documents. These documents may contain Personally Identifiable Information (PII), such as employee names, email addresses, phone numbers and identification details.</a:t>
            </a:r>
          </a:p>
          <a:p>
            <a:pPr algn="l">
              <a:lnSpc>
                <a:spcPts val="3599"/>
              </a:lnSpc>
            </a:pPr>
          </a:p>
          <a:p>
            <a:pPr algn="l">
              <a:lnSpc>
                <a:spcPts val="3599"/>
              </a:lnSpc>
            </a:pPr>
            <a:r>
              <a:rPr lang="en-US" sz="2999">
                <a:solidFill>
                  <a:srgbClr val="FFFFFF"/>
                </a:solidFill>
                <a:latin typeface="Work Sans"/>
                <a:ea typeface="Work Sans"/>
                <a:cs typeface="Work Sans"/>
                <a:sym typeface="Work Sans"/>
              </a:rPr>
              <a:t>Cadence's policy restricts PII from being processed by AI models. Therefore, documents must be processed to detect, classify and redact PII before their content is passed t</a:t>
            </a:r>
            <a:r>
              <a:rPr lang="en-US" sz="2999">
                <a:solidFill>
                  <a:srgbClr val="FFFFFF"/>
                </a:solidFill>
                <a:latin typeface="Work Sans"/>
                <a:ea typeface="Work Sans"/>
                <a:cs typeface="Work Sans"/>
                <a:sym typeface="Work Sans"/>
              </a:rPr>
              <a:t>o a Large Language Model (LLM).</a:t>
            </a:r>
          </a:p>
          <a:p>
            <a:pPr algn="l">
              <a:lnSpc>
                <a:spcPts val="3599"/>
              </a:lnSpc>
            </a:pPr>
          </a:p>
          <a:p>
            <a:pPr algn="l">
              <a:lnSpc>
                <a:spcPts val="3599"/>
              </a:lnSpc>
            </a:pPr>
            <a:r>
              <a:rPr lang="en-US" sz="2999" u="sng">
                <a:solidFill>
                  <a:srgbClr val="FFFFFF"/>
                </a:solidFill>
                <a:latin typeface="Work Sans"/>
                <a:ea typeface="Work Sans"/>
                <a:cs typeface="Work Sans"/>
                <a:sym typeface="Work Sans"/>
              </a:rPr>
              <a:t>OUR OBJECTIVES</a:t>
            </a:r>
            <a:r>
              <a:rPr lang="en-US" sz="2999">
                <a:solidFill>
                  <a:srgbClr val="FFFFFF"/>
                </a:solidFill>
                <a:latin typeface="Work Sans"/>
                <a:ea typeface="Work Sans"/>
                <a:cs typeface="Work Sans"/>
                <a:sym typeface="Work Sans"/>
              </a:rPr>
              <a:t>:</a:t>
            </a:r>
          </a:p>
          <a:p>
            <a:pPr algn="l">
              <a:lnSpc>
                <a:spcPts val="3599"/>
              </a:lnSpc>
            </a:pPr>
          </a:p>
          <a:p>
            <a:pPr algn="l" marL="647698" indent="-323849" lvl="1">
              <a:lnSpc>
                <a:spcPts val="3599"/>
              </a:lnSpc>
              <a:buAutoNum type="arabicPeriod" startAt="1"/>
            </a:pPr>
            <a:r>
              <a:rPr lang="en-US" b="true" sz="2999">
                <a:solidFill>
                  <a:srgbClr val="FFFFFF"/>
                </a:solidFill>
                <a:latin typeface="Work Sans Bold"/>
                <a:ea typeface="Work Sans Bold"/>
                <a:cs typeface="Work Sans Bold"/>
                <a:sym typeface="Work Sans Bold"/>
              </a:rPr>
              <a:t>Extract text:</a:t>
            </a:r>
            <a:r>
              <a:rPr lang="en-US" sz="2999">
                <a:solidFill>
                  <a:srgbClr val="FFFFFF"/>
                </a:solidFill>
                <a:latin typeface="Work Sans"/>
                <a:ea typeface="Work Sans"/>
                <a:cs typeface="Work Sans"/>
                <a:sym typeface="Work Sans"/>
              </a:rPr>
              <a:t> Process PDF, DOCX and PPTX files, including scanned PDF pages where OCR is required.</a:t>
            </a:r>
          </a:p>
          <a:p>
            <a:pPr algn="l" marL="647698" indent="-323849" lvl="1">
              <a:lnSpc>
                <a:spcPts val="3599"/>
              </a:lnSpc>
              <a:buAutoNum type="arabicPeriod" startAt="1"/>
            </a:pPr>
            <a:r>
              <a:rPr lang="en-US" b="true" sz="2999">
                <a:solidFill>
                  <a:srgbClr val="FFFFFF"/>
                </a:solidFill>
                <a:latin typeface="Work Sans Bold"/>
                <a:ea typeface="Work Sans Bold"/>
                <a:cs typeface="Work Sans Bold"/>
                <a:sym typeface="Work Sans Bold"/>
              </a:rPr>
              <a:t>Detect and classify PII</a:t>
            </a:r>
            <a:r>
              <a:rPr lang="en-US" sz="2999">
                <a:solidFill>
                  <a:srgbClr val="FFFFFF"/>
                </a:solidFill>
                <a:latin typeface="Work Sans"/>
                <a:ea typeface="Work Sans"/>
                <a:cs typeface="Work Sans"/>
                <a:sym typeface="Work Sans"/>
              </a:rPr>
              <a:t>: Identify supported PII categories and preserve the source location of each finding.</a:t>
            </a:r>
          </a:p>
          <a:p>
            <a:pPr algn="l" marL="647698" indent="-323849" lvl="1">
              <a:lnSpc>
                <a:spcPts val="3599"/>
              </a:lnSpc>
              <a:buAutoNum type="arabicPeriod" startAt="1"/>
            </a:pPr>
            <a:r>
              <a:rPr lang="en-US" b="true" sz="2999">
                <a:solidFill>
                  <a:srgbClr val="FFFFFF"/>
                </a:solidFill>
                <a:latin typeface="Work Sans Bold"/>
                <a:ea typeface="Work Sans Bold"/>
                <a:cs typeface="Work Sans Bold"/>
                <a:sym typeface="Work Sans Bold"/>
              </a:rPr>
              <a:t>Redact and report</a:t>
            </a:r>
            <a:r>
              <a:rPr lang="en-US" sz="2999">
                <a:solidFill>
                  <a:srgbClr val="FFFFFF"/>
                </a:solidFill>
                <a:latin typeface="Work Sans"/>
                <a:ea typeface="Work Sans"/>
                <a:cs typeface="Work Sans"/>
                <a:sym typeface="Work Sans"/>
              </a:rPr>
              <a:t>: Mask detected PII and generate traceable findings so sensitive text is not passed to the LLM.</a:t>
            </a:r>
          </a:p>
        </p:txBody>
      </p:sp>
      <p:sp>
        <p:nvSpPr>
          <p:cNvPr name="TextBox 4" id="4"/>
          <p:cNvSpPr txBox="true"/>
          <p:nvPr/>
        </p:nvSpPr>
        <p:spPr>
          <a:xfrm rot="0">
            <a:off x="1028700" y="1603849"/>
            <a:ext cx="16230600" cy="885825"/>
          </a:xfrm>
          <a:prstGeom prst="rect">
            <a:avLst/>
          </a:prstGeom>
        </p:spPr>
        <p:txBody>
          <a:bodyPr anchor="t" rtlCol="false" tIns="0" lIns="0" bIns="0" rIns="0">
            <a:spAutoFit/>
          </a:bodyPr>
          <a:lstStyle/>
          <a:p>
            <a:pPr algn="l" marL="0" indent="0" lvl="0">
              <a:lnSpc>
                <a:spcPts val="7080"/>
              </a:lnSpc>
              <a:spcBef>
                <a:spcPct val="0"/>
              </a:spcBef>
            </a:pPr>
            <a:r>
              <a:rPr lang="en-US" sz="5900" spc="-247">
                <a:solidFill>
                  <a:srgbClr val="FFFFFF"/>
                </a:solidFill>
                <a:latin typeface="Glock Grotesk"/>
                <a:ea typeface="Glock Grotesk"/>
                <a:cs typeface="Glock Grotesk"/>
                <a:sym typeface="Glock Grotesk"/>
              </a:rPr>
              <a:t>Pr</a:t>
            </a:r>
            <a:r>
              <a:rPr lang="en-US" b="true" sz="5900" spc="-247" strike="noStrike" u="none">
                <a:solidFill>
                  <a:srgbClr val="FFFFFF"/>
                </a:solidFill>
                <a:latin typeface="Glock Grotesk"/>
                <a:ea typeface="Glock Grotesk"/>
                <a:cs typeface="Glock Grotesk"/>
                <a:sym typeface="Glock Grotesk"/>
              </a:rPr>
              <a:t>o</a:t>
            </a:r>
            <a:r>
              <a:rPr lang="en-US" b="true" sz="5900" spc="-247" strike="noStrike" u="none">
                <a:solidFill>
                  <a:srgbClr val="FFFFFF"/>
                </a:solidFill>
                <a:latin typeface="Glock Grotesk"/>
                <a:ea typeface="Glock Grotesk"/>
                <a:cs typeface="Glock Grotesk"/>
                <a:sym typeface="Glock Grotesk"/>
              </a:rPr>
              <a:t>b</a:t>
            </a:r>
            <a:r>
              <a:rPr lang="en-US" b="true" sz="5900" spc="-247" strike="noStrike" u="none">
                <a:solidFill>
                  <a:srgbClr val="FFFFFF"/>
                </a:solidFill>
                <a:latin typeface="Glock Grotesk"/>
                <a:ea typeface="Glock Grotesk"/>
                <a:cs typeface="Glock Grotesk"/>
                <a:sym typeface="Glock Grotesk"/>
              </a:rPr>
              <a:t>l</a:t>
            </a:r>
            <a:r>
              <a:rPr lang="en-US" b="true" sz="5900" spc="-247" strike="noStrike" u="none">
                <a:solidFill>
                  <a:srgbClr val="FFFFFF"/>
                </a:solidFill>
                <a:latin typeface="Glock Grotesk"/>
                <a:ea typeface="Glock Grotesk"/>
                <a:cs typeface="Glock Grotesk"/>
                <a:sym typeface="Glock Grotesk"/>
              </a:rPr>
              <a:t>em</a:t>
            </a:r>
            <a:r>
              <a:rPr lang="en-US" b="true" sz="5900" spc="-247" strike="noStrike" u="none">
                <a:solidFill>
                  <a:srgbClr val="FFFFFF"/>
                </a:solidFill>
                <a:latin typeface="Glock Grotesk"/>
                <a:ea typeface="Glock Grotesk"/>
                <a:cs typeface="Glock Grotesk"/>
                <a:sym typeface="Glock Grotesk"/>
              </a:rPr>
              <a:t> </a:t>
            </a:r>
            <a:r>
              <a:rPr lang="en-US" b="true" sz="5900" spc="-247" strike="noStrike" u="none">
                <a:solidFill>
                  <a:srgbClr val="FFFFFF"/>
                </a:solidFill>
                <a:latin typeface="Glock Grotesk"/>
                <a:ea typeface="Glock Grotesk"/>
                <a:cs typeface="Glock Grotesk"/>
                <a:sym typeface="Glock Grotesk"/>
              </a:rPr>
              <a:t>Statement &amp;</a:t>
            </a:r>
            <a:r>
              <a:rPr lang="en-US" b="true" sz="5900" spc="-247" strike="noStrike" u="none">
                <a:solidFill>
                  <a:srgbClr val="FFFFFF"/>
                </a:solidFill>
                <a:latin typeface="Glock Grotesk"/>
                <a:ea typeface="Glock Grotesk"/>
                <a:cs typeface="Glock Grotesk"/>
                <a:sym typeface="Glock Grotesk"/>
              </a:rPr>
              <a:t> </a:t>
            </a:r>
            <a:r>
              <a:rPr lang="en-US" b="true" sz="5900" spc="-247" strike="noStrike" u="none">
                <a:solidFill>
                  <a:srgbClr val="FFFFFF"/>
                </a:solidFill>
                <a:latin typeface="Glock Grotesk"/>
                <a:ea typeface="Glock Grotesk"/>
                <a:cs typeface="Glock Grotesk"/>
                <a:sym typeface="Glock Grotesk"/>
              </a:rPr>
              <a:t>Obje</a:t>
            </a:r>
            <a:r>
              <a:rPr lang="en-US" b="true" sz="5900" spc="-247" strike="noStrike" u="none">
                <a:solidFill>
                  <a:srgbClr val="FFFFFF"/>
                </a:solidFill>
                <a:latin typeface="Glock Grotesk"/>
                <a:ea typeface="Glock Grotesk"/>
                <a:cs typeface="Glock Grotesk"/>
                <a:sym typeface="Glock Grotesk"/>
              </a:rPr>
              <a:t>c</a:t>
            </a:r>
            <a:r>
              <a:rPr lang="en-US" b="true" sz="5900" spc="-247" strike="noStrike" u="none">
                <a:solidFill>
                  <a:srgbClr val="FFFFFF"/>
                </a:solidFill>
                <a:latin typeface="Glock Grotesk"/>
                <a:ea typeface="Glock Grotesk"/>
                <a:cs typeface="Glock Grotesk"/>
                <a:sym typeface="Glock Grotesk"/>
              </a:rPr>
              <a:t>t</a:t>
            </a:r>
            <a:r>
              <a:rPr lang="en-US" b="true" sz="5900" spc="-247" strike="noStrike" u="none">
                <a:solidFill>
                  <a:srgbClr val="FFFFFF"/>
                </a:solidFill>
                <a:latin typeface="Glock Grotesk"/>
                <a:ea typeface="Glock Grotesk"/>
                <a:cs typeface="Glock Grotesk"/>
                <a:sym typeface="Glock Grotesk"/>
              </a:rPr>
              <a:t>i</a:t>
            </a:r>
            <a:r>
              <a:rPr lang="en-US" b="true" sz="5900" spc="-247" strike="noStrike" u="none">
                <a:solidFill>
                  <a:srgbClr val="FFFFFF"/>
                </a:solidFill>
                <a:latin typeface="Glock Grotesk"/>
                <a:ea typeface="Glock Grotesk"/>
                <a:cs typeface="Glock Grotesk"/>
                <a:sym typeface="Glock Grotesk"/>
              </a:rPr>
              <a:t>ves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0860551" y="4732669"/>
            <a:ext cx="7744260" cy="7110638"/>
          </a:xfrm>
          <a:custGeom>
            <a:avLst/>
            <a:gdLst/>
            <a:ahLst/>
            <a:cxnLst/>
            <a:rect r="r" b="b" t="t" l="l"/>
            <a:pathLst>
              <a:path h="7110638" w="7744260">
                <a:moveTo>
                  <a:pt x="0" y="0"/>
                </a:moveTo>
                <a:lnTo>
                  <a:pt x="7744260" y="0"/>
                </a:lnTo>
                <a:lnTo>
                  <a:pt x="7744260" y="7110638"/>
                </a:lnTo>
                <a:lnTo>
                  <a:pt x="0" y="7110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692564"/>
            <a:ext cx="16230600" cy="7224952"/>
          </a:xfrm>
          <a:custGeom>
            <a:avLst/>
            <a:gdLst/>
            <a:ahLst/>
            <a:cxnLst/>
            <a:rect r="r" b="b" t="t" l="l"/>
            <a:pathLst>
              <a:path h="7224952" w="16230600">
                <a:moveTo>
                  <a:pt x="0" y="0"/>
                </a:moveTo>
                <a:lnTo>
                  <a:pt x="16230600" y="0"/>
                </a:lnTo>
                <a:lnTo>
                  <a:pt x="16230600" y="7224952"/>
                </a:lnTo>
                <a:lnTo>
                  <a:pt x="0" y="7224952"/>
                </a:lnTo>
                <a:lnTo>
                  <a:pt x="0" y="0"/>
                </a:lnTo>
                <a:close/>
              </a:path>
            </a:pathLst>
          </a:custGeom>
          <a:blipFill>
            <a:blip r:embed="rId4"/>
            <a:stretch>
              <a:fillRect l="0" t="0" r="0" b="0"/>
            </a:stretch>
          </a:blipFill>
        </p:spPr>
      </p:sp>
      <p:sp>
        <p:nvSpPr>
          <p:cNvPr name="TextBox 4" id="4"/>
          <p:cNvSpPr txBox="true"/>
          <p:nvPr/>
        </p:nvSpPr>
        <p:spPr>
          <a:xfrm rot="0">
            <a:off x="1028700" y="1594324"/>
            <a:ext cx="16230600" cy="990600"/>
          </a:xfrm>
          <a:prstGeom prst="rect">
            <a:avLst/>
          </a:prstGeom>
        </p:spPr>
        <p:txBody>
          <a:bodyPr anchor="t" rtlCol="false" tIns="0" lIns="0" bIns="0" rIns="0">
            <a:spAutoFit/>
          </a:bodyPr>
          <a:lstStyle/>
          <a:p>
            <a:pPr algn="l" marL="0" indent="0" lvl="0">
              <a:lnSpc>
                <a:spcPts val="7800"/>
              </a:lnSpc>
              <a:spcBef>
                <a:spcPct val="0"/>
              </a:spcBef>
            </a:pPr>
            <a:r>
              <a:rPr lang="en-US" sz="6500" spc="-273">
                <a:solidFill>
                  <a:srgbClr val="FFFFFF"/>
                </a:solidFill>
                <a:latin typeface="Glock Grotesk"/>
                <a:ea typeface="Glock Grotesk"/>
                <a:cs typeface="Glock Grotesk"/>
                <a:sym typeface="Glock Grotesk"/>
              </a:rPr>
              <a:t>F</a:t>
            </a:r>
            <a:r>
              <a:rPr lang="en-US" b="true" sz="6500" spc="-273" strike="noStrike" u="none">
                <a:solidFill>
                  <a:srgbClr val="FFFFFF"/>
                </a:solidFill>
                <a:latin typeface="Glock Grotesk"/>
                <a:ea typeface="Glock Grotesk"/>
                <a:cs typeface="Glock Grotesk"/>
                <a:sym typeface="Glock Grotesk"/>
              </a:rPr>
              <a:t>u</a:t>
            </a:r>
            <a:r>
              <a:rPr lang="en-US" b="true" sz="6500" spc="-273" strike="noStrike" u="none">
                <a:solidFill>
                  <a:srgbClr val="FFFFFF"/>
                </a:solidFill>
                <a:latin typeface="Glock Grotesk"/>
                <a:ea typeface="Glock Grotesk"/>
                <a:cs typeface="Glock Grotesk"/>
                <a:sym typeface="Glock Grotesk"/>
              </a:rPr>
              <a:t>nctiona</a:t>
            </a:r>
            <a:r>
              <a:rPr lang="en-US" b="true" sz="6500" spc="-273" strike="noStrike" u="none">
                <a:solidFill>
                  <a:srgbClr val="FFFFFF"/>
                </a:solidFill>
                <a:latin typeface="Glock Grotesk"/>
                <a:ea typeface="Glock Grotesk"/>
                <a:cs typeface="Glock Grotesk"/>
                <a:sym typeface="Glock Grotesk"/>
              </a:rPr>
              <a:t>l </a:t>
            </a:r>
            <a:r>
              <a:rPr lang="en-US" b="true" sz="6500" spc="-273" strike="noStrike" u="none">
                <a:solidFill>
                  <a:srgbClr val="FFFFFF"/>
                </a:solidFill>
                <a:latin typeface="Glock Grotesk"/>
                <a:ea typeface="Glock Grotesk"/>
                <a:cs typeface="Glock Grotesk"/>
                <a:sym typeface="Glock Grotesk"/>
              </a:rPr>
              <a:t>S</a:t>
            </a:r>
            <a:r>
              <a:rPr lang="en-US" b="true" sz="6500" spc="-273" strike="noStrike" u="none">
                <a:solidFill>
                  <a:srgbClr val="FFFFFF"/>
                </a:solidFill>
                <a:latin typeface="Glock Grotesk"/>
                <a:ea typeface="Glock Grotesk"/>
                <a:cs typeface="Glock Grotesk"/>
                <a:sym typeface="Glock Grotesk"/>
              </a:rPr>
              <a:t>ol</a:t>
            </a:r>
            <a:r>
              <a:rPr lang="en-US" b="true" sz="6500" spc="-273" strike="noStrike" u="none">
                <a:solidFill>
                  <a:srgbClr val="FFFFFF"/>
                </a:solidFill>
                <a:latin typeface="Glock Grotesk"/>
                <a:ea typeface="Glock Grotesk"/>
                <a:cs typeface="Glock Grotesk"/>
                <a:sym typeface="Glock Grotesk"/>
              </a:rPr>
              <a:t>ut</a:t>
            </a:r>
            <a:r>
              <a:rPr lang="en-US" b="true" sz="6500" spc="-273" strike="noStrike" u="none">
                <a:solidFill>
                  <a:srgbClr val="FFFFFF"/>
                </a:solidFill>
                <a:latin typeface="Glock Grotesk"/>
                <a:ea typeface="Glock Grotesk"/>
                <a:cs typeface="Glock Grotesk"/>
                <a:sym typeface="Glock Grotesk"/>
              </a:rPr>
              <a:t>i</a:t>
            </a:r>
            <a:r>
              <a:rPr lang="en-US" b="true" sz="6500" spc="-273" strike="noStrike" u="none">
                <a:solidFill>
                  <a:srgbClr val="FFFFFF"/>
                </a:solidFill>
                <a:latin typeface="Glock Grotesk"/>
                <a:ea typeface="Glock Grotesk"/>
                <a:cs typeface="Glock Grotesk"/>
                <a:sym typeface="Glock Grotesk"/>
              </a:rPr>
              <a:t>on</a:t>
            </a:r>
            <a:r>
              <a:rPr lang="en-US" b="true" sz="6500" spc="-273" strike="noStrike" u="none">
                <a:solidFill>
                  <a:srgbClr val="FFFFFF"/>
                </a:solidFill>
                <a:latin typeface="Glock Grotesk"/>
                <a:ea typeface="Glock Grotesk"/>
                <a:cs typeface="Glock Grotesk"/>
                <a:sym typeface="Glock Grotesk"/>
              </a:rPr>
              <a:t> </a:t>
            </a:r>
            <a:r>
              <a:rPr lang="en-US" b="true" sz="6500" spc="-273" strike="noStrike" u="none">
                <a:solidFill>
                  <a:srgbClr val="FFFFFF"/>
                </a:solidFill>
                <a:latin typeface="Glock Grotesk"/>
                <a:ea typeface="Glock Grotesk"/>
                <a:cs typeface="Glock Grotesk"/>
                <a:sym typeface="Glock Grotesk"/>
              </a:rPr>
              <a:t>Bluepr</a:t>
            </a:r>
            <a:r>
              <a:rPr lang="en-US" b="true" sz="6500" spc="-273" strike="noStrike" u="none">
                <a:solidFill>
                  <a:srgbClr val="FFFFFF"/>
                </a:solidFill>
                <a:latin typeface="Glock Grotesk"/>
                <a:ea typeface="Glock Grotesk"/>
                <a:cs typeface="Glock Grotesk"/>
                <a:sym typeface="Glock Grotesk"/>
              </a:rPr>
              <a:t>i</a:t>
            </a:r>
            <a:r>
              <a:rPr lang="en-US" b="true" sz="6500" spc="-273" strike="noStrike" u="none">
                <a:solidFill>
                  <a:srgbClr val="FFFFFF"/>
                </a:solidFill>
                <a:latin typeface="Glock Grotesk"/>
                <a:ea typeface="Glock Grotesk"/>
                <a:cs typeface="Glock Grotesk"/>
                <a:sym typeface="Glock Grotesk"/>
              </a:rPr>
              <a:t>n</a:t>
            </a:r>
            <a:r>
              <a:rPr lang="en-US" b="true" sz="6500" spc="-273" strike="noStrike" u="none">
                <a:solidFill>
                  <a:srgbClr val="FFFFFF"/>
                </a:solidFill>
                <a:latin typeface="Glock Grotesk"/>
                <a:ea typeface="Glock Grotesk"/>
                <a:cs typeface="Glock Grotesk"/>
                <a:sym typeface="Glock Grotesk"/>
              </a:rPr>
              <a:t>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0860551" y="4732669"/>
            <a:ext cx="7744260" cy="7110638"/>
          </a:xfrm>
          <a:custGeom>
            <a:avLst/>
            <a:gdLst/>
            <a:ahLst/>
            <a:cxnLst/>
            <a:rect r="r" b="b" t="t" l="l"/>
            <a:pathLst>
              <a:path h="7110638" w="7744260">
                <a:moveTo>
                  <a:pt x="0" y="0"/>
                </a:moveTo>
                <a:lnTo>
                  <a:pt x="7744260" y="0"/>
                </a:lnTo>
                <a:lnTo>
                  <a:pt x="7744260" y="7110638"/>
                </a:lnTo>
                <a:lnTo>
                  <a:pt x="0" y="7110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35569" y="2584924"/>
            <a:ext cx="13874778" cy="7201168"/>
          </a:xfrm>
          <a:custGeom>
            <a:avLst/>
            <a:gdLst/>
            <a:ahLst/>
            <a:cxnLst/>
            <a:rect r="r" b="b" t="t" l="l"/>
            <a:pathLst>
              <a:path h="7201168" w="13874778">
                <a:moveTo>
                  <a:pt x="0" y="0"/>
                </a:moveTo>
                <a:lnTo>
                  <a:pt x="13874778" y="0"/>
                </a:lnTo>
                <a:lnTo>
                  <a:pt x="13874778" y="7201169"/>
                </a:lnTo>
                <a:lnTo>
                  <a:pt x="0" y="7201169"/>
                </a:lnTo>
                <a:lnTo>
                  <a:pt x="0" y="0"/>
                </a:lnTo>
                <a:close/>
              </a:path>
            </a:pathLst>
          </a:custGeom>
          <a:blipFill>
            <a:blip r:embed="rId4"/>
            <a:stretch>
              <a:fillRect l="0" t="0" r="0" b="0"/>
            </a:stretch>
          </a:blipFill>
        </p:spPr>
      </p:sp>
      <p:sp>
        <p:nvSpPr>
          <p:cNvPr name="TextBox 4" id="4"/>
          <p:cNvSpPr txBox="true"/>
          <p:nvPr/>
        </p:nvSpPr>
        <p:spPr>
          <a:xfrm rot="0">
            <a:off x="1028700" y="1594324"/>
            <a:ext cx="16688515" cy="990600"/>
          </a:xfrm>
          <a:prstGeom prst="rect">
            <a:avLst/>
          </a:prstGeom>
        </p:spPr>
        <p:txBody>
          <a:bodyPr anchor="t" rtlCol="false" tIns="0" lIns="0" bIns="0" rIns="0">
            <a:spAutoFit/>
          </a:bodyPr>
          <a:lstStyle/>
          <a:p>
            <a:pPr algn="l" marL="0" indent="0" lvl="0">
              <a:lnSpc>
                <a:spcPts val="7800"/>
              </a:lnSpc>
              <a:spcBef>
                <a:spcPct val="0"/>
              </a:spcBef>
            </a:pPr>
            <a:r>
              <a:rPr lang="en-US" sz="6500" spc="-273">
                <a:solidFill>
                  <a:srgbClr val="FFFFFF"/>
                </a:solidFill>
                <a:latin typeface="Glock Grotesk"/>
                <a:ea typeface="Glock Grotesk"/>
                <a:cs typeface="Glock Grotesk"/>
                <a:sym typeface="Glock Grotesk"/>
              </a:rPr>
              <a:t>Technica</a:t>
            </a:r>
            <a:r>
              <a:rPr lang="en-US" b="true" sz="6500" spc="-273" strike="noStrike" u="none">
                <a:solidFill>
                  <a:srgbClr val="FFFFFF"/>
                </a:solidFill>
                <a:latin typeface="Glock Grotesk"/>
                <a:ea typeface="Glock Grotesk"/>
                <a:cs typeface="Glock Grotesk"/>
                <a:sym typeface="Glock Grotesk"/>
              </a:rPr>
              <a:t>l </a:t>
            </a:r>
            <a:r>
              <a:rPr lang="en-US" b="true" sz="6500" spc="-273" strike="noStrike" u="none">
                <a:solidFill>
                  <a:srgbClr val="FFFFFF"/>
                </a:solidFill>
                <a:latin typeface="Glock Grotesk"/>
                <a:ea typeface="Glock Grotesk"/>
                <a:cs typeface="Glock Grotesk"/>
                <a:sym typeface="Glock Grotesk"/>
              </a:rPr>
              <a:t>S</a:t>
            </a:r>
            <a:r>
              <a:rPr lang="en-US" b="true" sz="6500" spc="-273" strike="noStrike" u="none">
                <a:solidFill>
                  <a:srgbClr val="FFFFFF"/>
                </a:solidFill>
                <a:latin typeface="Glock Grotesk"/>
                <a:ea typeface="Glock Grotesk"/>
                <a:cs typeface="Glock Grotesk"/>
                <a:sym typeface="Glock Grotesk"/>
              </a:rPr>
              <a:t>y</a:t>
            </a:r>
            <a:r>
              <a:rPr lang="en-US" b="true" sz="6500" spc="-273" strike="noStrike" u="none">
                <a:solidFill>
                  <a:srgbClr val="FFFFFF"/>
                </a:solidFill>
                <a:latin typeface="Glock Grotesk"/>
                <a:ea typeface="Glock Grotesk"/>
                <a:cs typeface="Glock Grotesk"/>
                <a:sym typeface="Glock Grotesk"/>
              </a:rPr>
              <a:t>stem</a:t>
            </a:r>
            <a:r>
              <a:rPr lang="en-US" b="true" sz="6500" spc="-273" strike="noStrike" u="none">
                <a:solidFill>
                  <a:srgbClr val="FFFFFF"/>
                </a:solidFill>
                <a:latin typeface="Glock Grotesk"/>
                <a:ea typeface="Glock Grotesk"/>
                <a:cs typeface="Glock Grotesk"/>
                <a:sym typeface="Glock Grotesk"/>
              </a:rPr>
              <a:t> </a:t>
            </a:r>
            <a:r>
              <a:rPr lang="en-US" b="true" sz="6500" spc="-273" strike="noStrike" u="none">
                <a:solidFill>
                  <a:srgbClr val="FFFFFF"/>
                </a:solidFill>
                <a:latin typeface="Glock Grotesk"/>
                <a:ea typeface="Glock Grotesk"/>
                <a:cs typeface="Glock Grotesk"/>
                <a:sym typeface="Glock Grotesk"/>
              </a:rPr>
              <a:t>Ar</a:t>
            </a:r>
            <a:r>
              <a:rPr lang="en-US" b="true" sz="6500" spc="-273" strike="noStrike" u="none">
                <a:solidFill>
                  <a:srgbClr val="FFFFFF"/>
                </a:solidFill>
                <a:latin typeface="Glock Grotesk"/>
                <a:ea typeface="Glock Grotesk"/>
                <a:cs typeface="Glock Grotesk"/>
                <a:sym typeface="Glock Grotesk"/>
              </a:rPr>
              <a:t>c</a:t>
            </a:r>
            <a:r>
              <a:rPr lang="en-US" b="true" sz="6500" spc="-273" strike="noStrike" u="none">
                <a:solidFill>
                  <a:srgbClr val="FFFFFF"/>
                </a:solidFill>
                <a:latin typeface="Glock Grotesk"/>
                <a:ea typeface="Glock Grotesk"/>
                <a:cs typeface="Glock Grotesk"/>
                <a:sym typeface="Glock Grotesk"/>
              </a:rPr>
              <a:t>h</a:t>
            </a:r>
            <a:r>
              <a:rPr lang="en-US" b="true" sz="6500" spc="-273" strike="noStrike" u="none">
                <a:solidFill>
                  <a:srgbClr val="FFFFFF"/>
                </a:solidFill>
                <a:latin typeface="Glock Grotesk"/>
                <a:ea typeface="Glock Grotesk"/>
                <a:cs typeface="Glock Grotesk"/>
                <a:sym typeface="Glock Grotesk"/>
              </a:rPr>
              <a:t>i</a:t>
            </a:r>
            <a:r>
              <a:rPr lang="en-US" b="true" sz="6500" spc="-273" strike="noStrike" u="none">
                <a:solidFill>
                  <a:srgbClr val="FFFFFF"/>
                </a:solidFill>
                <a:latin typeface="Glock Grotesk"/>
                <a:ea typeface="Glock Grotesk"/>
                <a:cs typeface="Glock Grotesk"/>
                <a:sym typeface="Glock Grotesk"/>
              </a:rPr>
              <a:t>te</a:t>
            </a:r>
            <a:r>
              <a:rPr lang="en-US" b="true" sz="6500" spc="-273" strike="noStrike" u="none">
                <a:solidFill>
                  <a:srgbClr val="FFFFFF"/>
                </a:solidFill>
                <a:latin typeface="Glock Grotesk"/>
                <a:ea typeface="Glock Grotesk"/>
                <a:cs typeface="Glock Grotesk"/>
                <a:sym typeface="Glock Grotesk"/>
              </a:rPr>
              <a:t>ct</a:t>
            </a:r>
            <a:r>
              <a:rPr lang="en-US" b="true" sz="6500" spc="-273" strike="noStrike" u="none">
                <a:solidFill>
                  <a:srgbClr val="FFFFFF"/>
                </a:solidFill>
                <a:latin typeface="Glock Grotesk"/>
                <a:ea typeface="Glock Grotesk"/>
                <a:cs typeface="Glock Grotesk"/>
                <a:sym typeface="Glock Grotesk"/>
              </a:rPr>
              <a:t>ure</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070908">
                <a:alpha val="100000"/>
              </a:srgbClr>
            </a:gs>
            <a:gs pos="33333">
              <a:srgbClr val="29464A">
                <a:alpha val="100000"/>
              </a:srgbClr>
            </a:gs>
            <a:gs pos="66667">
              <a:srgbClr val="6D8080">
                <a:alpha val="100000"/>
              </a:srgbClr>
            </a:gs>
            <a:gs pos="100000">
              <a:srgbClr val="B9C8B6">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1464077"/>
            <a:ext cx="16230600" cy="103822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FFFFFF"/>
                </a:solidFill>
                <a:latin typeface="Glock Grotesk"/>
                <a:ea typeface="Glock Grotesk"/>
                <a:cs typeface="Glock Grotesk"/>
                <a:sym typeface="Glock Grotesk"/>
              </a:rPr>
              <a:t>M</a:t>
            </a:r>
            <a:r>
              <a:rPr lang="en-US" b="true" sz="6000" strike="noStrike" u="none">
                <a:solidFill>
                  <a:srgbClr val="FFFFFF"/>
                </a:solidFill>
                <a:latin typeface="Glock Grotesk"/>
                <a:ea typeface="Glock Grotesk"/>
                <a:cs typeface="Glock Grotesk"/>
                <a:sym typeface="Glock Grotesk"/>
              </a:rPr>
              <a:t>u</a:t>
            </a:r>
            <a:r>
              <a:rPr lang="en-US" b="true" sz="6000" strike="noStrike" u="none">
                <a:solidFill>
                  <a:srgbClr val="FFFFFF"/>
                </a:solidFill>
                <a:latin typeface="Glock Grotesk"/>
                <a:ea typeface="Glock Grotesk"/>
                <a:cs typeface="Glock Grotesk"/>
                <a:sym typeface="Glock Grotesk"/>
              </a:rPr>
              <a:t>lt</a:t>
            </a:r>
            <a:r>
              <a:rPr lang="en-US" b="true" sz="6000" strike="noStrike" u="none">
                <a:solidFill>
                  <a:srgbClr val="FFFFFF"/>
                </a:solidFill>
                <a:latin typeface="Glock Grotesk"/>
                <a:ea typeface="Glock Grotesk"/>
                <a:cs typeface="Glock Grotesk"/>
                <a:sym typeface="Glock Grotesk"/>
              </a:rPr>
              <a:t>i</a:t>
            </a:r>
            <a:r>
              <a:rPr lang="en-US" b="true" sz="6000" strike="noStrike" u="none">
                <a:solidFill>
                  <a:srgbClr val="FFFFFF"/>
                </a:solidFill>
                <a:latin typeface="Glock Grotesk"/>
                <a:ea typeface="Glock Grotesk"/>
                <a:cs typeface="Glock Grotesk"/>
                <a:sym typeface="Glock Grotesk"/>
              </a:rPr>
              <a:t>-Forma</a:t>
            </a:r>
            <a:r>
              <a:rPr lang="en-US" b="true" sz="6000" strike="noStrike" u="none">
                <a:solidFill>
                  <a:srgbClr val="FFFFFF"/>
                </a:solidFill>
                <a:latin typeface="Glock Grotesk"/>
                <a:ea typeface="Glock Grotesk"/>
                <a:cs typeface="Glock Grotesk"/>
                <a:sym typeface="Glock Grotesk"/>
              </a:rPr>
              <a:t>t </a:t>
            </a:r>
            <a:r>
              <a:rPr lang="en-US" b="true" sz="6000" strike="noStrike" u="none">
                <a:solidFill>
                  <a:srgbClr val="FFFFFF"/>
                </a:solidFill>
                <a:latin typeface="Glock Grotesk"/>
                <a:ea typeface="Glock Grotesk"/>
                <a:cs typeface="Glock Grotesk"/>
                <a:sym typeface="Glock Grotesk"/>
              </a:rPr>
              <a:t>T</a:t>
            </a:r>
            <a:r>
              <a:rPr lang="en-US" b="true" sz="6000" strike="noStrike" u="none">
                <a:solidFill>
                  <a:srgbClr val="FFFFFF"/>
                </a:solidFill>
                <a:latin typeface="Glock Grotesk"/>
                <a:ea typeface="Glock Grotesk"/>
                <a:cs typeface="Glock Grotesk"/>
                <a:sym typeface="Glock Grotesk"/>
              </a:rPr>
              <a:t>e</a:t>
            </a:r>
            <a:r>
              <a:rPr lang="en-US" b="true" sz="6000" strike="noStrike" u="none">
                <a:solidFill>
                  <a:srgbClr val="FFFFFF"/>
                </a:solidFill>
                <a:latin typeface="Glock Grotesk"/>
                <a:ea typeface="Glock Grotesk"/>
                <a:cs typeface="Glock Grotesk"/>
                <a:sym typeface="Glock Grotesk"/>
              </a:rPr>
              <a:t>x</a:t>
            </a:r>
            <a:r>
              <a:rPr lang="en-US" b="true" sz="6000" strike="noStrike" u="none">
                <a:solidFill>
                  <a:srgbClr val="FFFFFF"/>
                </a:solidFill>
                <a:latin typeface="Glock Grotesk"/>
                <a:ea typeface="Glock Grotesk"/>
                <a:cs typeface="Glock Grotesk"/>
                <a:sym typeface="Glock Grotesk"/>
              </a:rPr>
              <a:t>t </a:t>
            </a:r>
            <a:r>
              <a:rPr lang="en-US" b="true" sz="6000" strike="noStrike" u="none">
                <a:solidFill>
                  <a:srgbClr val="FFFFFF"/>
                </a:solidFill>
                <a:latin typeface="Glock Grotesk"/>
                <a:ea typeface="Glock Grotesk"/>
                <a:cs typeface="Glock Grotesk"/>
                <a:sym typeface="Glock Grotesk"/>
              </a:rPr>
              <a:t>Ext</a:t>
            </a:r>
            <a:r>
              <a:rPr lang="en-US" b="true" sz="6000" strike="noStrike" u="none">
                <a:solidFill>
                  <a:srgbClr val="FFFFFF"/>
                </a:solidFill>
                <a:latin typeface="Glock Grotesk"/>
                <a:ea typeface="Glock Grotesk"/>
                <a:cs typeface="Glock Grotesk"/>
                <a:sym typeface="Glock Grotesk"/>
              </a:rPr>
              <a:t>racti</a:t>
            </a:r>
            <a:r>
              <a:rPr lang="en-US" b="true" sz="6000" strike="noStrike" u="none">
                <a:solidFill>
                  <a:srgbClr val="FFFFFF"/>
                </a:solidFill>
                <a:latin typeface="Glock Grotesk"/>
                <a:ea typeface="Glock Grotesk"/>
                <a:cs typeface="Glock Grotesk"/>
                <a:sym typeface="Glock Grotesk"/>
              </a:rPr>
              <a:t>on</a:t>
            </a:r>
          </a:p>
        </p:txBody>
      </p:sp>
      <p:grpSp>
        <p:nvGrpSpPr>
          <p:cNvPr name="Group 3" id="3"/>
          <p:cNvGrpSpPr/>
          <p:nvPr/>
        </p:nvGrpSpPr>
        <p:grpSpPr>
          <a:xfrm rot="0">
            <a:off x="1028700" y="2759477"/>
            <a:ext cx="5034470" cy="6089248"/>
            <a:chOff x="0" y="0"/>
            <a:chExt cx="1325951" cy="1603753"/>
          </a:xfrm>
        </p:grpSpPr>
        <p:sp>
          <p:nvSpPr>
            <p:cNvPr name="Freeform 4" id="4"/>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5" id="5"/>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6" id="6"/>
          <p:cNvGrpSpPr/>
          <p:nvPr/>
        </p:nvGrpSpPr>
        <p:grpSpPr>
          <a:xfrm rot="0">
            <a:off x="6626765" y="2759477"/>
            <a:ext cx="5034470" cy="6089248"/>
            <a:chOff x="0" y="0"/>
            <a:chExt cx="1325951" cy="1603753"/>
          </a:xfrm>
        </p:grpSpPr>
        <p:sp>
          <p:nvSpPr>
            <p:cNvPr name="Freeform 7" id="7"/>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8" id="8"/>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9" id="9"/>
          <p:cNvGrpSpPr/>
          <p:nvPr/>
        </p:nvGrpSpPr>
        <p:grpSpPr>
          <a:xfrm rot="0">
            <a:off x="12224830" y="2759477"/>
            <a:ext cx="5034470" cy="6089248"/>
            <a:chOff x="0" y="0"/>
            <a:chExt cx="1325951" cy="1603753"/>
          </a:xfrm>
        </p:grpSpPr>
        <p:sp>
          <p:nvSpPr>
            <p:cNvPr name="Freeform 10" id="10"/>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11" id="11"/>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12" id="12"/>
          <p:cNvSpPr txBox="true"/>
          <p:nvPr/>
        </p:nvSpPr>
        <p:spPr>
          <a:xfrm rot="0">
            <a:off x="1347316"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PDF Extraction</a:t>
            </a:r>
          </a:p>
        </p:txBody>
      </p:sp>
      <p:sp>
        <p:nvSpPr>
          <p:cNvPr name="TextBox 13" id="13"/>
          <p:cNvSpPr txBox="true"/>
          <p:nvPr/>
        </p:nvSpPr>
        <p:spPr>
          <a:xfrm rot="0">
            <a:off x="6786073"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Word Extraction</a:t>
            </a:r>
          </a:p>
        </p:txBody>
      </p:sp>
      <p:sp>
        <p:nvSpPr>
          <p:cNvPr name="TextBox 14" id="14"/>
          <p:cNvSpPr txBox="true"/>
          <p:nvPr/>
        </p:nvSpPr>
        <p:spPr>
          <a:xfrm rot="0">
            <a:off x="12545253"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PowerPoint Extraction</a:t>
            </a:r>
          </a:p>
        </p:txBody>
      </p:sp>
      <p:sp>
        <p:nvSpPr>
          <p:cNvPr name="TextBox 15" id="15"/>
          <p:cNvSpPr txBox="true"/>
          <p:nvPr/>
        </p:nvSpPr>
        <p:spPr>
          <a:xfrm rot="0">
            <a:off x="1347316" y="4236719"/>
            <a:ext cx="4393625" cy="43656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Work Sans"/>
                <a:ea typeface="Work Sans"/>
                <a:cs typeface="Work Sans"/>
                <a:sym typeface="Work Sans"/>
              </a:rPr>
              <a:t>Extract text from PDF pages.</a:t>
            </a:r>
          </a:p>
          <a:p>
            <a:pPr algn="l" marL="539749" indent="-269875" lvl="1">
              <a:lnSpc>
                <a:spcPts val="3499"/>
              </a:lnSpc>
              <a:buFont typeface="Arial"/>
              <a:buChar char="•"/>
            </a:pPr>
            <a:r>
              <a:rPr lang="en-US" sz="2499">
                <a:solidFill>
                  <a:srgbClr val="FFFFFF"/>
                </a:solidFill>
                <a:latin typeface="Work Sans"/>
                <a:ea typeface="Work Sans"/>
                <a:cs typeface="Work Sans"/>
                <a:sym typeface="Work Sans"/>
              </a:rPr>
              <a:t>Preserve page-level source references.</a:t>
            </a:r>
          </a:p>
          <a:p>
            <a:pPr algn="l" marL="539749" indent="-269875" lvl="1">
              <a:lnSpc>
                <a:spcPts val="3499"/>
              </a:lnSpc>
              <a:buFont typeface="Arial"/>
              <a:buChar char="•"/>
            </a:pPr>
            <a:r>
              <a:rPr lang="en-US" sz="2499">
                <a:solidFill>
                  <a:srgbClr val="FFFFFF"/>
                </a:solidFill>
                <a:latin typeface="Work Sans"/>
                <a:ea typeface="Work Sans"/>
                <a:cs typeface="Work Sans"/>
                <a:sym typeface="Work Sans"/>
              </a:rPr>
              <a:t>Use OCR for s</a:t>
            </a:r>
            <a:r>
              <a:rPr lang="en-US" sz="2499">
                <a:solidFill>
                  <a:srgbClr val="FFFFFF"/>
                </a:solidFill>
                <a:latin typeface="Work Sans"/>
                <a:ea typeface="Work Sans"/>
                <a:cs typeface="Work Sans"/>
                <a:sym typeface="Work Sans"/>
              </a:rPr>
              <a:t>canned PDFs and embedded images.</a:t>
            </a:r>
          </a:p>
          <a:p>
            <a:pPr algn="l" marL="539749" indent="-269875" lvl="1">
              <a:lnSpc>
                <a:spcPts val="3499"/>
              </a:lnSpc>
              <a:spcBef>
                <a:spcPct val="0"/>
              </a:spcBef>
              <a:buFont typeface="Arial"/>
              <a:buChar char="•"/>
            </a:pPr>
            <a:r>
              <a:rPr lang="en-US" sz="2499">
                <a:solidFill>
                  <a:srgbClr val="FFFFFF"/>
                </a:solidFill>
                <a:latin typeface="Work Sans"/>
                <a:ea typeface="Work Sans"/>
                <a:cs typeface="Work Sans"/>
                <a:sym typeface="Work Sans"/>
              </a:rPr>
              <a:t>Record OCR confidence and extraction warnings.</a:t>
            </a:r>
          </a:p>
          <a:p>
            <a:pPr algn="l" marL="0" indent="0" lvl="0">
              <a:lnSpc>
                <a:spcPts val="3499"/>
              </a:lnSpc>
              <a:spcBef>
                <a:spcPct val="0"/>
              </a:spcBef>
            </a:pPr>
          </a:p>
        </p:txBody>
      </p:sp>
      <p:sp>
        <p:nvSpPr>
          <p:cNvPr name="TextBox 16" id="16"/>
          <p:cNvSpPr txBox="true"/>
          <p:nvPr/>
        </p:nvSpPr>
        <p:spPr>
          <a:xfrm rot="0">
            <a:off x="6786073" y="4236719"/>
            <a:ext cx="4393625" cy="48037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Work Sans"/>
                <a:ea typeface="Work Sans"/>
                <a:cs typeface="Work Sans"/>
                <a:sym typeface="Work Sans"/>
              </a:rPr>
              <a:t>Extract paragraphs and tables.</a:t>
            </a:r>
          </a:p>
          <a:p>
            <a:pPr algn="l" marL="539749" indent="-269875" lvl="1">
              <a:lnSpc>
                <a:spcPts val="3499"/>
              </a:lnSpc>
              <a:buFont typeface="Arial"/>
              <a:buChar char="•"/>
            </a:pPr>
            <a:r>
              <a:rPr lang="en-US" sz="2499">
                <a:solidFill>
                  <a:srgbClr val="FFFFFF"/>
                </a:solidFill>
                <a:latin typeface="Work Sans"/>
                <a:ea typeface="Work Sans"/>
                <a:cs typeface="Work Sans"/>
                <a:sym typeface="Work Sans"/>
              </a:rPr>
              <a:t>Process embedded images using OCR where applicable.</a:t>
            </a:r>
          </a:p>
          <a:p>
            <a:pPr algn="l" marL="539749" indent="-269875" lvl="1">
              <a:lnSpc>
                <a:spcPts val="3499"/>
              </a:lnSpc>
              <a:buFont typeface="Arial"/>
              <a:buChar char="•"/>
            </a:pPr>
            <a:r>
              <a:rPr lang="en-US" sz="2499">
                <a:solidFill>
                  <a:srgbClr val="FFFFFF"/>
                </a:solidFill>
                <a:latin typeface="Work Sans"/>
                <a:ea typeface="Work Sans"/>
                <a:cs typeface="Work Sans"/>
                <a:sym typeface="Work Sans"/>
              </a:rPr>
              <a:t>Preserve source document and segment IDs.</a:t>
            </a:r>
          </a:p>
          <a:p>
            <a:pPr algn="l" marL="539749" indent="-269875" lvl="1">
              <a:lnSpc>
                <a:spcPts val="3499"/>
              </a:lnSpc>
              <a:spcBef>
                <a:spcPct val="0"/>
              </a:spcBef>
              <a:buFont typeface="Arial"/>
              <a:buChar char="•"/>
            </a:pPr>
            <a:r>
              <a:rPr lang="en-US" sz="2499">
                <a:solidFill>
                  <a:srgbClr val="FFFFFF"/>
                </a:solidFill>
                <a:latin typeface="Work Sans"/>
                <a:ea typeface="Work Sans"/>
                <a:cs typeface="Work Sans"/>
                <a:sym typeface="Work Sans"/>
              </a:rPr>
              <a:t>Record extraction method and warnings.</a:t>
            </a:r>
          </a:p>
          <a:p>
            <a:pPr algn="l" marL="0" indent="0" lvl="0">
              <a:lnSpc>
                <a:spcPts val="3499"/>
              </a:lnSpc>
              <a:spcBef>
                <a:spcPct val="0"/>
              </a:spcBef>
            </a:pPr>
          </a:p>
        </p:txBody>
      </p:sp>
      <p:sp>
        <p:nvSpPr>
          <p:cNvPr name="TextBox 17" id="17"/>
          <p:cNvSpPr txBox="true"/>
          <p:nvPr/>
        </p:nvSpPr>
        <p:spPr>
          <a:xfrm rot="0">
            <a:off x="12547060" y="4236719"/>
            <a:ext cx="4393625" cy="4365625"/>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sz="2499">
                <a:solidFill>
                  <a:srgbClr val="FFFFFF"/>
                </a:solidFill>
                <a:latin typeface="Work Sans"/>
                <a:ea typeface="Work Sans"/>
                <a:cs typeface="Work Sans"/>
                <a:sym typeface="Work Sans"/>
              </a:rPr>
              <a:t>Extract sl</a:t>
            </a:r>
            <a:r>
              <a:rPr lang="en-US" sz="2499" strike="noStrike" u="none">
                <a:solidFill>
                  <a:srgbClr val="FFFFFF"/>
                </a:solidFill>
                <a:latin typeface="Work Sans"/>
                <a:ea typeface="Work Sans"/>
                <a:cs typeface="Work Sans"/>
                <a:sym typeface="Work Sans"/>
              </a:rPr>
              <a:t>ide text and text elements.</a:t>
            </a:r>
          </a:p>
          <a:p>
            <a:pPr algn="l" marL="539749" indent="-269875" lvl="1">
              <a:lnSpc>
                <a:spcPts val="3499"/>
              </a:lnSpc>
              <a:spcBef>
                <a:spcPct val="0"/>
              </a:spcBef>
              <a:buFont typeface="Arial"/>
              <a:buChar char="•"/>
            </a:pPr>
            <a:r>
              <a:rPr lang="en-US" sz="2499" strike="noStrike" u="none">
                <a:solidFill>
                  <a:srgbClr val="FFFFFF"/>
                </a:solidFill>
                <a:latin typeface="Work Sans"/>
                <a:ea typeface="Work Sans"/>
                <a:cs typeface="Work Sans"/>
                <a:sym typeface="Work Sans"/>
              </a:rPr>
              <a:t>Preserve slide-level </a:t>
            </a:r>
            <a:r>
              <a:rPr lang="en-US" sz="2499" strike="noStrike" u="none">
                <a:solidFill>
                  <a:srgbClr val="FFFFFF"/>
                </a:solidFill>
                <a:latin typeface="Work Sans"/>
                <a:ea typeface="Work Sans"/>
                <a:cs typeface="Work Sans"/>
                <a:sym typeface="Work Sans"/>
              </a:rPr>
              <a:t>source </a:t>
            </a:r>
            <a:r>
              <a:rPr lang="en-US" sz="2499" strike="noStrike" u="none">
                <a:solidFill>
                  <a:srgbClr val="FFFFFF"/>
                </a:solidFill>
                <a:latin typeface="Work Sans"/>
                <a:ea typeface="Work Sans"/>
                <a:cs typeface="Work Sans"/>
                <a:sym typeface="Work Sans"/>
              </a:rPr>
              <a:t>references.</a:t>
            </a:r>
          </a:p>
          <a:p>
            <a:pPr algn="l" marL="539749" indent="-269875" lvl="1">
              <a:lnSpc>
                <a:spcPts val="3499"/>
              </a:lnSpc>
              <a:spcBef>
                <a:spcPct val="0"/>
              </a:spcBef>
              <a:buFont typeface="Arial"/>
              <a:buChar char="•"/>
            </a:pPr>
            <a:r>
              <a:rPr lang="en-US" sz="2499" strike="noStrike" u="none">
                <a:solidFill>
                  <a:srgbClr val="FFFFFF"/>
                </a:solidFill>
                <a:latin typeface="Work Sans"/>
                <a:ea typeface="Work Sans"/>
                <a:cs typeface="Work Sans"/>
                <a:sym typeface="Work Sans"/>
              </a:rPr>
              <a:t>Proc</a:t>
            </a:r>
            <a:r>
              <a:rPr lang="en-US" sz="2499" strike="noStrike" u="none">
                <a:solidFill>
                  <a:srgbClr val="FFFFFF"/>
                </a:solidFill>
                <a:latin typeface="Work Sans"/>
                <a:ea typeface="Work Sans"/>
                <a:cs typeface="Work Sans"/>
                <a:sym typeface="Work Sans"/>
              </a:rPr>
              <a:t>ess embedded images using OCR where applicable.</a:t>
            </a:r>
          </a:p>
          <a:p>
            <a:pPr algn="l" marL="539749" indent="-269875" lvl="1">
              <a:lnSpc>
                <a:spcPts val="3499"/>
              </a:lnSpc>
              <a:spcBef>
                <a:spcPct val="0"/>
              </a:spcBef>
              <a:buFont typeface="Arial"/>
              <a:buChar char="•"/>
            </a:pPr>
            <a:r>
              <a:rPr lang="en-US" sz="2499" strike="noStrike" u="none">
                <a:solidFill>
                  <a:srgbClr val="FFFFFF"/>
                </a:solidFill>
                <a:latin typeface="Work Sans"/>
                <a:ea typeface="Work Sans"/>
                <a:cs typeface="Work Sans"/>
                <a:sym typeface="Work Sans"/>
              </a:rPr>
              <a:t>Record extraction method and warnings.</a:t>
            </a:r>
          </a:p>
          <a:p>
            <a:pPr algn="l" marL="0" indent="0" lvl="0">
              <a:lnSpc>
                <a:spcPts val="3499"/>
              </a:lnSpc>
              <a:spcBef>
                <a:spcPct val="0"/>
              </a:spcBef>
            </a:pPr>
          </a:p>
        </p:txBody>
      </p:sp>
      <p:sp>
        <p:nvSpPr>
          <p:cNvPr name="TextBox 18" id="18"/>
          <p:cNvSpPr txBox="true"/>
          <p:nvPr/>
        </p:nvSpPr>
        <p:spPr>
          <a:xfrm rot="0">
            <a:off x="415290" y="9039225"/>
            <a:ext cx="17872710" cy="1481455"/>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Work Sans"/>
                <a:ea typeface="Work Sans"/>
                <a:cs typeface="Work Sans"/>
                <a:sym typeface="Work Sans"/>
              </a:rPr>
              <a:t>Common output: Extracted text with source metadata, including file name, segment ID, location, extraction method, confidence and warnings, ready for PII detection and classification.</a:t>
            </a:r>
          </a:p>
          <a:p>
            <a:pPr algn="l">
              <a:lnSpc>
                <a:spcPts val="39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33333">
              <a:srgbClr val="29464A">
                <a:alpha val="100000"/>
              </a:srgbClr>
            </a:gs>
            <a:gs pos="66667">
              <a:srgbClr val="6D8080">
                <a:alpha val="100000"/>
              </a:srgbClr>
            </a:gs>
            <a:gs pos="100000">
              <a:srgbClr val="B9C8B6">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3201992"/>
            <a:ext cx="16230600" cy="3883017"/>
          </a:xfrm>
          <a:custGeom>
            <a:avLst/>
            <a:gdLst/>
            <a:ahLst/>
            <a:cxnLst/>
            <a:rect r="r" b="b" t="t" l="l"/>
            <a:pathLst>
              <a:path h="3883017" w="16230600">
                <a:moveTo>
                  <a:pt x="0" y="0"/>
                </a:moveTo>
                <a:lnTo>
                  <a:pt x="16230600" y="0"/>
                </a:lnTo>
                <a:lnTo>
                  <a:pt x="16230600" y="3883016"/>
                </a:lnTo>
                <a:lnTo>
                  <a:pt x="0" y="3883016"/>
                </a:lnTo>
                <a:lnTo>
                  <a:pt x="0" y="0"/>
                </a:lnTo>
                <a:close/>
              </a:path>
            </a:pathLst>
          </a:custGeom>
          <a:blipFill>
            <a:blip r:embed="rId2"/>
            <a:stretch>
              <a:fillRect l="0" t="0" r="0" b="0"/>
            </a:stretch>
          </a:blipFill>
        </p:spPr>
      </p:sp>
      <p:sp>
        <p:nvSpPr>
          <p:cNvPr name="TextBox 3" id="3"/>
          <p:cNvSpPr txBox="true"/>
          <p:nvPr/>
        </p:nvSpPr>
        <p:spPr>
          <a:xfrm rot="0">
            <a:off x="1028700" y="1464077"/>
            <a:ext cx="16230600" cy="1038225"/>
          </a:xfrm>
          <a:prstGeom prst="rect">
            <a:avLst/>
          </a:prstGeom>
        </p:spPr>
        <p:txBody>
          <a:bodyPr anchor="t" rtlCol="false" tIns="0" lIns="0" bIns="0" rIns="0">
            <a:spAutoFit/>
          </a:bodyPr>
          <a:lstStyle/>
          <a:p>
            <a:pPr algn="l" marL="0" indent="0" lvl="0">
              <a:lnSpc>
                <a:spcPts val="8400"/>
              </a:lnSpc>
              <a:spcBef>
                <a:spcPct val="0"/>
              </a:spcBef>
            </a:pPr>
            <a:r>
              <a:rPr lang="en-US" sz="6000">
                <a:solidFill>
                  <a:srgbClr val="FFFFFF"/>
                </a:solidFill>
                <a:latin typeface="Glock Grotesk"/>
                <a:ea typeface="Glock Grotesk"/>
                <a:cs typeface="Glock Grotesk"/>
                <a:sym typeface="Glock Grotesk"/>
              </a:rPr>
              <a:t>M</a:t>
            </a:r>
            <a:r>
              <a:rPr lang="en-US" b="true" sz="6000" strike="noStrike" u="none">
                <a:solidFill>
                  <a:srgbClr val="FFFFFF"/>
                </a:solidFill>
                <a:latin typeface="Glock Grotesk"/>
                <a:ea typeface="Glock Grotesk"/>
                <a:cs typeface="Glock Grotesk"/>
                <a:sym typeface="Glock Grotesk"/>
              </a:rPr>
              <a:t>u</a:t>
            </a:r>
            <a:r>
              <a:rPr lang="en-US" b="true" sz="6000" strike="noStrike" u="none">
                <a:solidFill>
                  <a:srgbClr val="FFFFFF"/>
                </a:solidFill>
                <a:latin typeface="Glock Grotesk"/>
                <a:ea typeface="Glock Grotesk"/>
                <a:cs typeface="Glock Grotesk"/>
                <a:sym typeface="Glock Grotesk"/>
              </a:rPr>
              <a:t>lt</a:t>
            </a:r>
            <a:r>
              <a:rPr lang="en-US" b="true" sz="6000" strike="noStrike" u="none">
                <a:solidFill>
                  <a:srgbClr val="FFFFFF"/>
                </a:solidFill>
                <a:latin typeface="Glock Grotesk"/>
                <a:ea typeface="Glock Grotesk"/>
                <a:cs typeface="Glock Grotesk"/>
                <a:sym typeface="Glock Grotesk"/>
              </a:rPr>
              <a:t>i</a:t>
            </a:r>
            <a:r>
              <a:rPr lang="en-US" b="true" sz="6000" strike="noStrike" u="none">
                <a:solidFill>
                  <a:srgbClr val="FFFFFF"/>
                </a:solidFill>
                <a:latin typeface="Glock Grotesk"/>
                <a:ea typeface="Glock Grotesk"/>
                <a:cs typeface="Glock Grotesk"/>
                <a:sym typeface="Glock Grotesk"/>
              </a:rPr>
              <a:t>-Forma</a:t>
            </a:r>
            <a:r>
              <a:rPr lang="en-US" b="true" sz="6000" strike="noStrike" u="none">
                <a:solidFill>
                  <a:srgbClr val="FFFFFF"/>
                </a:solidFill>
                <a:latin typeface="Glock Grotesk"/>
                <a:ea typeface="Glock Grotesk"/>
                <a:cs typeface="Glock Grotesk"/>
                <a:sym typeface="Glock Grotesk"/>
              </a:rPr>
              <a:t>t </a:t>
            </a:r>
            <a:r>
              <a:rPr lang="en-US" b="true" sz="6000" strike="noStrike" u="none">
                <a:solidFill>
                  <a:srgbClr val="FFFFFF"/>
                </a:solidFill>
                <a:latin typeface="Glock Grotesk"/>
                <a:ea typeface="Glock Grotesk"/>
                <a:cs typeface="Glock Grotesk"/>
                <a:sym typeface="Glock Grotesk"/>
              </a:rPr>
              <a:t>T</a:t>
            </a:r>
            <a:r>
              <a:rPr lang="en-US" b="true" sz="6000" strike="noStrike" u="none">
                <a:solidFill>
                  <a:srgbClr val="FFFFFF"/>
                </a:solidFill>
                <a:latin typeface="Glock Grotesk"/>
                <a:ea typeface="Glock Grotesk"/>
                <a:cs typeface="Glock Grotesk"/>
                <a:sym typeface="Glock Grotesk"/>
              </a:rPr>
              <a:t>e</a:t>
            </a:r>
            <a:r>
              <a:rPr lang="en-US" b="true" sz="6000" strike="noStrike" u="none">
                <a:solidFill>
                  <a:srgbClr val="FFFFFF"/>
                </a:solidFill>
                <a:latin typeface="Glock Grotesk"/>
                <a:ea typeface="Glock Grotesk"/>
                <a:cs typeface="Glock Grotesk"/>
                <a:sym typeface="Glock Grotesk"/>
              </a:rPr>
              <a:t>x</a:t>
            </a:r>
            <a:r>
              <a:rPr lang="en-US" b="true" sz="6000" strike="noStrike" u="none">
                <a:solidFill>
                  <a:srgbClr val="FFFFFF"/>
                </a:solidFill>
                <a:latin typeface="Glock Grotesk"/>
                <a:ea typeface="Glock Grotesk"/>
                <a:cs typeface="Glock Grotesk"/>
                <a:sym typeface="Glock Grotesk"/>
              </a:rPr>
              <a:t>t </a:t>
            </a:r>
            <a:r>
              <a:rPr lang="en-US" b="true" sz="6000" strike="noStrike" u="none">
                <a:solidFill>
                  <a:srgbClr val="FFFFFF"/>
                </a:solidFill>
                <a:latin typeface="Glock Grotesk"/>
                <a:ea typeface="Glock Grotesk"/>
                <a:cs typeface="Glock Grotesk"/>
                <a:sym typeface="Glock Grotesk"/>
              </a:rPr>
              <a:t>Ext</a:t>
            </a:r>
            <a:r>
              <a:rPr lang="en-US" b="true" sz="6000" strike="noStrike" u="none">
                <a:solidFill>
                  <a:srgbClr val="FFFFFF"/>
                </a:solidFill>
                <a:latin typeface="Glock Grotesk"/>
                <a:ea typeface="Glock Grotesk"/>
                <a:cs typeface="Glock Grotesk"/>
                <a:sym typeface="Glock Grotesk"/>
              </a:rPr>
              <a:t>racti</a:t>
            </a:r>
            <a:r>
              <a:rPr lang="en-US" b="true" sz="6000" strike="noStrike" u="none">
                <a:solidFill>
                  <a:srgbClr val="FFFFFF"/>
                </a:solidFill>
                <a:latin typeface="Glock Grotesk"/>
                <a:ea typeface="Glock Grotesk"/>
                <a:cs typeface="Glock Grotesk"/>
                <a:sym typeface="Glock Grotesk"/>
              </a:rPr>
              <a:t>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9914952" y="1028700"/>
            <a:ext cx="7344348" cy="1725089"/>
            <a:chOff x="0" y="0"/>
            <a:chExt cx="1956974" cy="459667"/>
          </a:xfrm>
        </p:grpSpPr>
        <p:sp>
          <p:nvSpPr>
            <p:cNvPr name="Freeform 3" id="3"/>
            <p:cNvSpPr/>
            <p:nvPr/>
          </p:nvSpPr>
          <p:spPr>
            <a:xfrm flipH="false" flipV="false" rot="0">
              <a:off x="0" y="0"/>
              <a:ext cx="1956974" cy="459667"/>
            </a:xfrm>
            <a:custGeom>
              <a:avLst/>
              <a:gdLst/>
              <a:ahLst/>
              <a:cxnLst/>
              <a:rect r="r" b="b" t="t" l="l"/>
              <a:pathLst>
                <a:path h="459667" w="1956974">
                  <a:moveTo>
                    <a:pt x="10541" y="0"/>
                  </a:moveTo>
                  <a:lnTo>
                    <a:pt x="1946432" y="0"/>
                  </a:lnTo>
                  <a:cubicBezTo>
                    <a:pt x="1949228" y="0"/>
                    <a:pt x="1951909" y="1111"/>
                    <a:pt x="1953886" y="3087"/>
                  </a:cubicBezTo>
                  <a:cubicBezTo>
                    <a:pt x="1955863" y="5064"/>
                    <a:pt x="1956974" y="7746"/>
                    <a:pt x="1956974" y="10541"/>
                  </a:cubicBezTo>
                  <a:lnTo>
                    <a:pt x="1956974" y="449126"/>
                  </a:lnTo>
                  <a:cubicBezTo>
                    <a:pt x="1956974" y="451921"/>
                    <a:pt x="1955863" y="454603"/>
                    <a:pt x="1953886" y="456579"/>
                  </a:cubicBezTo>
                  <a:cubicBezTo>
                    <a:pt x="1951909" y="458556"/>
                    <a:pt x="1949228" y="459667"/>
                    <a:pt x="1946432" y="459667"/>
                  </a:cubicBezTo>
                  <a:lnTo>
                    <a:pt x="10541" y="459667"/>
                  </a:lnTo>
                  <a:cubicBezTo>
                    <a:pt x="7746" y="459667"/>
                    <a:pt x="5064" y="458556"/>
                    <a:pt x="3087" y="456579"/>
                  </a:cubicBezTo>
                  <a:cubicBezTo>
                    <a:pt x="1111" y="454603"/>
                    <a:pt x="0" y="451921"/>
                    <a:pt x="0" y="449126"/>
                  </a:cubicBezTo>
                  <a:lnTo>
                    <a:pt x="0" y="10541"/>
                  </a:lnTo>
                  <a:cubicBezTo>
                    <a:pt x="0" y="7746"/>
                    <a:pt x="1111" y="5064"/>
                    <a:pt x="3087" y="3087"/>
                  </a:cubicBezTo>
                  <a:cubicBezTo>
                    <a:pt x="5064" y="1111"/>
                    <a:pt x="7746" y="0"/>
                    <a:pt x="10541" y="0"/>
                  </a:cubicBezTo>
                  <a:close/>
                </a:path>
              </a:pathLst>
            </a:custGeom>
            <a:solidFill>
              <a:srgbClr val="FFFFFF">
                <a:alpha val="11765"/>
              </a:srgbClr>
            </a:solidFill>
            <a:ln w="9525" cap="sq">
              <a:solidFill>
                <a:srgbClr val="9EB49F">
                  <a:alpha val="11765"/>
                </a:srgbClr>
              </a:solidFill>
              <a:prstDash val="solid"/>
              <a:miter/>
            </a:ln>
          </p:spPr>
        </p:sp>
        <p:sp>
          <p:nvSpPr>
            <p:cNvPr name="TextBox 4" id="4"/>
            <p:cNvSpPr txBox="true"/>
            <p:nvPr/>
          </p:nvSpPr>
          <p:spPr>
            <a:xfrm>
              <a:off x="0" y="-76200"/>
              <a:ext cx="1956974" cy="535867"/>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5" id="5"/>
          <p:cNvGrpSpPr/>
          <p:nvPr/>
        </p:nvGrpSpPr>
        <p:grpSpPr>
          <a:xfrm rot="0">
            <a:off x="9914952" y="3197165"/>
            <a:ext cx="7344348" cy="1725089"/>
            <a:chOff x="0" y="0"/>
            <a:chExt cx="1956974" cy="459667"/>
          </a:xfrm>
        </p:grpSpPr>
        <p:sp>
          <p:nvSpPr>
            <p:cNvPr name="Freeform 6" id="6"/>
            <p:cNvSpPr/>
            <p:nvPr/>
          </p:nvSpPr>
          <p:spPr>
            <a:xfrm flipH="false" flipV="false" rot="0">
              <a:off x="0" y="0"/>
              <a:ext cx="1956974" cy="459667"/>
            </a:xfrm>
            <a:custGeom>
              <a:avLst/>
              <a:gdLst/>
              <a:ahLst/>
              <a:cxnLst/>
              <a:rect r="r" b="b" t="t" l="l"/>
              <a:pathLst>
                <a:path h="459667" w="1956974">
                  <a:moveTo>
                    <a:pt x="10541" y="0"/>
                  </a:moveTo>
                  <a:lnTo>
                    <a:pt x="1946432" y="0"/>
                  </a:lnTo>
                  <a:cubicBezTo>
                    <a:pt x="1949228" y="0"/>
                    <a:pt x="1951909" y="1111"/>
                    <a:pt x="1953886" y="3087"/>
                  </a:cubicBezTo>
                  <a:cubicBezTo>
                    <a:pt x="1955863" y="5064"/>
                    <a:pt x="1956974" y="7746"/>
                    <a:pt x="1956974" y="10541"/>
                  </a:cubicBezTo>
                  <a:lnTo>
                    <a:pt x="1956974" y="449126"/>
                  </a:lnTo>
                  <a:cubicBezTo>
                    <a:pt x="1956974" y="451921"/>
                    <a:pt x="1955863" y="454603"/>
                    <a:pt x="1953886" y="456579"/>
                  </a:cubicBezTo>
                  <a:cubicBezTo>
                    <a:pt x="1951909" y="458556"/>
                    <a:pt x="1949228" y="459667"/>
                    <a:pt x="1946432" y="459667"/>
                  </a:cubicBezTo>
                  <a:lnTo>
                    <a:pt x="10541" y="459667"/>
                  </a:lnTo>
                  <a:cubicBezTo>
                    <a:pt x="7746" y="459667"/>
                    <a:pt x="5064" y="458556"/>
                    <a:pt x="3087" y="456579"/>
                  </a:cubicBezTo>
                  <a:cubicBezTo>
                    <a:pt x="1111" y="454603"/>
                    <a:pt x="0" y="451921"/>
                    <a:pt x="0" y="449126"/>
                  </a:cubicBezTo>
                  <a:lnTo>
                    <a:pt x="0" y="10541"/>
                  </a:lnTo>
                  <a:cubicBezTo>
                    <a:pt x="0" y="7746"/>
                    <a:pt x="1111" y="5064"/>
                    <a:pt x="3087" y="3087"/>
                  </a:cubicBezTo>
                  <a:cubicBezTo>
                    <a:pt x="5064" y="1111"/>
                    <a:pt x="7746" y="0"/>
                    <a:pt x="10541" y="0"/>
                  </a:cubicBezTo>
                  <a:close/>
                </a:path>
              </a:pathLst>
            </a:custGeom>
            <a:solidFill>
              <a:srgbClr val="FFFFFF">
                <a:alpha val="21961"/>
              </a:srgbClr>
            </a:solidFill>
            <a:ln w="9525" cap="sq">
              <a:solidFill>
                <a:srgbClr val="9EB49F">
                  <a:alpha val="21961"/>
                </a:srgbClr>
              </a:solidFill>
              <a:prstDash val="solid"/>
              <a:miter/>
            </a:ln>
          </p:spPr>
        </p:sp>
        <p:sp>
          <p:nvSpPr>
            <p:cNvPr name="TextBox 7" id="7"/>
            <p:cNvSpPr txBox="true"/>
            <p:nvPr/>
          </p:nvSpPr>
          <p:spPr>
            <a:xfrm>
              <a:off x="0" y="-76200"/>
              <a:ext cx="1956974" cy="535867"/>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8" id="8"/>
          <p:cNvGrpSpPr/>
          <p:nvPr/>
        </p:nvGrpSpPr>
        <p:grpSpPr>
          <a:xfrm rot="0">
            <a:off x="9914952" y="5364746"/>
            <a:ext cx="7344348" cy="1725089"/>
            <a:chOff x="0" y="0"/>
            <a:chExt cx="1956974" cy="459667"/>
          </a:xfrm>
        </p:grpSpPr>
        <p:sp>
          <p:nvSpPr>
            <p:cNvPr name="Freeform 9" id="9"/>
            <p:cNvSpPr/>
            <p:nvPr/>
          </p:nvSpPr>
          <p:spPr>
            <a:xfrm flipH="false" flipV="false" rot="0">
              <a:off x="0" y="0"/>
              <a:ext cx="1956974" cy="459667"/>
            </a:xfrm>
            <a:custGeom>
              <a:avLst/>
              <a:gdLst/>
              <a:ahLst/>
              <a:cxnLst/>
              <a:rect r="r" b="b" t="t" l="l"/>
              <a:pathLst>
                <a:path h="459667" w="1956974">
                  <a:moveTo>
                    <a:pt x="10541" y="0"/>
                  </a:moveTo>
                  <a:lnTo>
                    <a:pt x="1946432" y="0"/>
                  </a:lnTo>
                  <a:cubicBezTo>
                    <a:pt x="1949228" y="0"/>
                    <a:pt x="1951909" y="1111"/>
                    <a:pt x="1953886" y="3087"/>
                  </a:cubicBezTo>
                  <a:cubicBezTo>
                    <a:pt x="1955863" y="5064"/>
                    <a:pt x="1956974" y="7746"/>
                    <a:pt x="1956974" y="10541"/>
                  </a:cubicBezTo>
                  <a:lnTo>
                    <a:pt x="1956974" y="449126"/>
                  </a:lnTo>
                  <a:cubicBezTo>
                    <a:pt x="1956974" y="451921"/>
                    <a:pt x="1955863" y="454603"/>
                    <a:pt x="1953886" y="456579"/>
                  </a:cubicBezTo>
                  <a:cubicBezTo>
                    <a:pt x="1951909" y="458556"/>
                    <a:pt x="1949228" y="459667"/>
                    <a:pt x="1946432" y="459667"/>
                  </a:cubicBezTo>
                  <a:lnTo>
                    <a:pt x="10541" y="459667"/>
                  </a:lnTo>
                  <a:cubicBezTo>
                    <a:pt x="7746" y="459667"/>
                    <a:pt x="5064" y="458556"/>
                    <a:pt x="3087" y="456579"/>
                  </a:cubicBezTo>
                  <a:cubicBezTo>
                    <a:pt x="1111" y="454603"/>
                    <a:pt x="0" y="451921"/>
                    <a:pt x="0" y="449126"/>
                  </a:cubicBezTo>
                  <a:lnTo>
                    <a:pt x="0" y="10541"/>
                  </a:lnTo>
                  <a:cubicBezTo>
                    <a:pt x="0" y="7746"/>
                    <a:pt x="1111" y="5064"/>
                    <a:pt x="3087" y="3087"/>
                  </a:cubicBezTo>
                  <a:cubicBezTo>
                    <a:pt x="5064" y="1111"/>
                    <a:pt x="7746" y="0"/>
                    <a:pt x="10541" y="0"/>
                  </a:cubicBezTo>
                  <a:close/>
                </a:path>
              </a:pathLst>
            </a:custGeom>
            <a:solidFill>
              <a:srgbClr val="FFFFFF">
                <a:alpha val="31765"/>
              </a:srgbClr>
            </a:solidFill>
            <a:ln w="9525" cap="sq">
              <a:solidFill>
                <a:srgbClr val="9EB49F">
                  <a:alpha val="31765"/>
                </a:srgbClr>
              </a:solidFill>
              <a:prstDash val="solid"/>
              <a:miter/>
            </a:ln>
          </p:spPr>
        </p:sp>
        <p:sp>
          <p:nvSpPr>
            <p:cNvPr name="TextBox 10" id="10"/>
            <p:cNvSpPr txBox="true"/>
            <p:nvPr/>
          </p:nvSpPr>
          <p:spPr>
            <a:xfrm>
              <a:off x="0" y="-76200"/>
              <a:ext cx="1956974" cy="535867"/>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11" id="11"/>
          <p:cNvGrpSpPr/>
          <p:nvPr/>
        </p:nvGrpSpPr>
        <p:grpSpPr>
          <a:xfrm rot="0">
            <a:off x="9914952" y="7533211"/>
            <a:ext cx="7344348" cy="1725089"/>
            <a:chOff x="0" y="0"/>
            <a:chExt cx="1956974" cy="459667"/>
          </a:xfrm>
        </p:grpSpPr>
        <p:sp>
          <p:nvSpPr>
            <p:cNvPr name="Freeform 12" id="12"/>
            <p:cNvSpPr/>
            <p:nvPr/>
          </p:nvSpPr>
          <p:spPr>
            <a:xfrm flipH="false" flipV="false" rot="0">
              <a:off x="0" y="0"/>
              <a:ext cx="1956974" cy="459667"/>
            </a:xfrm>
            <a:custGeom>
              <a:avLst/>
              <a:gdLst/>
              <a:ahLst/>
              <a:cxnLst/>
              <a:rect r="r" b="b" t="t" l="l"/>
              <a:pathLst>
                <a:path h="459667" w="1956974">
                  <a:moveTo>
                    <a:pt x="10541" y="0"/>
                  </a:moveTo>
                  <a:lnTo>
                    <a:pt x="1946432" y="0"/>
                  </a:lnTo>
                  <a:cubicBezTo>
                    <a:pt x="1949228" y="0"/>
                    <a:pt x="1951909" y="1111"/>
                    <a:pt x="1953886" y="3087"/>
                  </a:cubicBezTo>
                  <a:cubicBezTo>
                    <a:pt x="1955863" y="5064"/>
                    <a:pt x="1956974" y="7746"/>
                    <a:pt x="1956974" y="10541"/>
                  </a:cubicBezTo>
                  <a:lnTo>
                    <a:pt x="1956974" y="449126"/>
                  </a:lnTo>
                  <a:cubicBezTo>
                    <a:pt x="1956974" y="451921"/>
                    <a:pt x="1955863" y="454603"/>
                    <a:pt x="1953886" y="456579"/>
                  </a:cubicBezTo>
                  <a:cubicBezTo>
                    <a:pt x="1951909" y="458556"/>
                    <a:pt x="1949228" y="459667"/>
                    <a:pt x="1946432" y="459667"/>
                  </a:cubicBezTo>
                  <a:lnTo>
                    <a:pt x="10541" y="459667"/>
                  </a:lnTo>
                  <a:cubicBezTo>
                    <a:pt x="7746" y="459667"/>
                    <a:pt x="5064" y="458556"/>
                    <a:pt x="3087" y="456579"/>
                  </a:cubicBezTo>
                  <a:cubicBezTo>
                    <a:pt x="1111" y="454603"/>
                    <a:pt x="0" y="451921"/>
                    <a:pt x="0" y="449126"/>
                  </a:cubicBezTo>
                  <a:lnTo>
                    <a:pt x="0" y="10541"/>
                  </a:lnTo>
                  <a:cubicBezTo>
                    <a:pt x="0" y="7746"/>
                    <a:pt x="1111" y="5064"/>
                    <a:pt x="3087" y="3087"/>
                  </a:cubicBezTo>
                  <a:cubicBezTo>
                    <a:pt x="5064" y="1111"/>
                    <a:pt x="7746" y="0"/>
                    <a:pt x="10541" y="0"/>
                  </a:cubicBezTo>
                  <a:close/>
                </a:path>
              </a:pathLst>
            </a:custGeom>
            <a:solidFill>
              <a:srgbClr val="FFFFFF">
                <a:alpha val="46667"/>
              </a:srgbClr>
            </a:solidFill>
            <a:ln w="9525" cap="sq">
              <a:solidFill>
                <a:srgbClr val="9EB49F">
                  <a:alpha val="46667"/>
                </a:srgbClr>
              </a:solidFill>
              <a:prstDash val="solid"/>
              <a:miter/>
            </a:ln>
          </p:spPr>
        </p:sp>
        <p:sp>
          <p:nvSpPr>
            <p:cNvPr name="TextBox 13" id="13"/>
            <p:cNvSpPr txBox="true"/>
            <p:nvPr/>
          </p:nvSpPr>
          <p:spPr>
            <a:xfrm>
              <a:off x="0" y="-76200"/>
              <a:ext cx="1956974" cy="535867"/>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Freeform 14" id="14"/>
          <p:cNvSpPr/>
          <p:nvPr/>
        </p:nvSpPr>
        <p:spPr>
          <a:xfrm flipH="false" flipV="false" rot="-7436091">
            <a:off x="-3303733" y="4475852"/>
            <a:ext cx="8279515" cy="10920223"/>
          </a:xfrm>
          <a:custGeom>
            <a:avLst/>
            <a:gdLst/>
            <a:ahLst/>
            <a:cxnLst/>
            <a:rect r="r" b="b" t="t" l="l"/>
            <a:pathLst>
              <a:path h="10920223" w="8279515">
                <a:moveTo>
                  <a:pt x="0" y="0"/>
                </a:moveTo>
                <a:lnTo>
                  <a:pt x="8279515" y="0"/>
                </a:lnTo>
                <a:lnTo>
                  <a:pt x="8279515" y="10920224"/>
                </a:lnTo>
                <a:lnTo>
                  <a:pt x="0" y="10920224"/>
                </a:lnTo>
                <a:lnTo>
                  <a:pt x="0" y="0"/>
                </a:lnTo>
                <a:close/>
              </a:path>
            </a:pathLst>
          </a:custGeom>
          <a:blipFill>
            <a:blip r:embed="rId2">
              <a:alphaModFix amt="8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5" id="15"/>
          <p:cNvSpPr/>
          <p:nvPr/>
        </p:nvSpPr>
        <p:spPr>
          <a:xfrm flipH="false" flipV="false" rot="0">
            <a:off x="1274028" y="4840378"/>
            <a:ext cx="7676305" cy="4267058"/>
          </a:xfrm>
          <a:custGeom>
            <a:avLst/>
            <a:gdLst/>
            <a:ahLst/>
            <a:cxnLst/>
            <a:rect r="r" b="b" t="t" l="l"/>
            <a:pathLst>
              <a:path h="4267058" w="7676305">
                <a:moveTo>
                  <a:pt x="0" y="0"/>
                </a:moveTo>
                <a:lnTo>
                  <a:pt x="7676305" y="0"/>
                </a:lnTo>
                <a:lnTo>
                  <a:pt x="7676305" y="4267058"/>
                </a:lnTo>
                <a:lnTo>
                  <a:pt x="0" y="4267058"/>
                </a:lnTo>
                <a:lnTo>
                  <a:pt x="0" y="0"/>
                </a:lnTo>
                <a:close/>
              </a:path>
            </a:pathLst>
          </a:custGeom>
          <a:blipFill>
            <a:blip r:embed="rId4"/>
            <a:stretch>
              <a:fillRect l="0" t="0" r="0" b="0"/>
            </a:stretch>
          </a:blipFill>
        </p:spPr>
      </p:sp>
      <p:sp>
        <p:nvSpPr>
          <p:cNvPr name="TextBox 16" id="16"/>
          <p:cNvSpPr txBox="true"/>
          <p:nvPr/>
        </p:nvSpPr>
        <p:spPr>
          <a:xfrm rot="0">
            <a:off x="1028700" y="904875"/>
            <a:ext cx="7399244" cy="3416292"/>
          </a:xfrm>
          <a:prstGeom prst="rect">
            <a:avLst/>
          </a:prstGeom>
        </p:spPr>
        <p:txBody>
          <a:bodyPr anchor="t" rtlCol="false" tIns="0" lIns="0" bIns="0" rIns="0">
            <a:spAutoFit/>
          </a:bodyPr>
          <a:lstStyle/>
          <a:p>
            <a:pPr algn="l" marL="0" indent="0" lvl="0">
              <a:lnSpc>
                <a:spcPts val="9100"/>
              </a:lnSpc>
              <a:spcBef>
                <a:spcPct val="0"/>
              </a:spcBef>
            </a:pPr>
            <a:r>
              <a:rPr lang="en-US" sz="6500" spc="-273">
                <a:solidFill>
                  <a:srgbClr val="FFFFFF"/>
                </a:solidFill>
                <a:latin typeface="Glock Grotesk"/>
                <a:ea typeface="Glock Grotesk"/>
                <a:cs typeface="Glock Grotesk"/>
                <a:sym typeface="Glock Grotesk"/>
              </a:rPr>
              <a:t>PII D</a:t>
            </a:r>
            <a:r>
              <a:rPr lang="en-US" b="true" sz="6500" spc="-273" strike="noStrike" u="none">
                <a:solidFill>
                  <a:srgbClr val="FFFFFF"/>
                </a:solidFill>
                <a:latin typeface="Glock Grotesk"/>
                <a:ea typeface="Glock Grotesk"/>
                <a:cs typeface="Glock Grotesk"/>
                <a:sym typeface="Glock Grotesk"/>
              </a:rPr>
              <a:t>e</a:t>
            </a:r>
            <a:r>
              <a:rPr lang="en-US" b="true" sz="6500" spc="-273" strike="noStrike" u="none">
                <a:solidFill>
                  <a:srgbClr val="FFFFFF"/>
                </a:solidFill>
                <a:latin typeface="Glock Grotesk"/>
                <a:ea typeface="Glock Grotesk"/>
                <a:cs typeface="Glock Grotesk"/>
                <a:sym typeface="Glock Grotesk"/>
              </a:rPr>
              <a:t>t</a:t>
            </a:r>
            <a:r>
              <a:rPr lang="en-US" b="true" sz="6500" spc="-273" strike="noStrike" u="none">
                <a:solidFill>
                  <a:srgbClr val="FFFFFF"/>
                </a:solidFill>
                <a:latin typeface="Glock Grotesk"/>
                <a:ea typeface="Glock Grotesk"/>
                <a:cs typeface="Glock Grotesk"/>
                <a:sym typeface="Glock Grotesk"/>
              </a:rPr>
              <a:t>e</a:t>
            </a:r>
            <a:r>
              <a:rPr lang="en-US" b="true" sz="6500" spc="-273" strike="noStrike" u="none">
                <a:solidFill>
                  <a:srgbClr val="FFFFFF"/>
                </a:solidFill>
                <a:latin typeface="Glock Grotesk"/>
                <a:ea typeface="Glock Grotesk"/>
                <a:cs typeface="Glock Grotesk"/>
                <a:sym typeface="Glock Grotesk"/>
              </a:rPr>
              <a:t>ction &amp; Classification</a:t>
            </a:r>
          </a:p>
        </p:txBody>
      </p:sp>
      <p:grpSp>
        <p:nvGrpSpPr>
          <p:cNvPr name="Group 17" id="17"/>
          <p:cNvGrpSpPr/>
          <p:nvPr/>
        </p:nvGrpSpPr>
        <p:grpSpPr>
          <a:xfrm rot="0">
            <a:off x="10405949" y="1110576"/>
            <a:ext cx="6362353" cy="1561338"/>
            <a:chOff x="0" y="0"/>
            <a:chExt cx="8483137" cy="2081784"/>
          </a:xfrm>
        </p:grpSpPr>
        <p:sp>
          <p:nvSpPr>
            <p:cNvPr name="TextBox 18" id="18"/>
            <p:cNvSpPr txBox="true"/>
            <p:nvPr/>
          </p:nvSpPr>
          <p:spPr>
            <a:xfrm rot="0">
              <a:off x="0" y="-66675"/>
              <a:ext cx="8483137" cy="625700"/>
            </a:xfrm>
            <a:prstGeom prst="rect">
              <a:avLst/>
            </a:prstGeom>
          </p:spPr>
          <p:txBody>
            <a:bodyPr anchor="t" rtlCol="false" tIns="0" lIns="0" bIns="0" rIns="0">
              <a:spAutoFit/>
            </a:bodyPr>
            <a:lstStyle/>
            <a:p>
              <a:pPr algn="l">
                <a:lnSpc>
                  <a:spcPts val="3874"/>
                </a:lnSpc>
                <a:spcBef>
                  <a:spcPct val="0"/>
                </a:spcBef>
              </a:pPr>
              <a:r>
                <a:rPr lang="en-US" b="true" sz="2767">
                  <a:solidFill>
                    <a:srgbClr val="FFFFFF"/>
                  </a:solidFill>
                  <a:latin typeface="Work Sans Bold"/>
                  <a:ea typeface="Work Sans Bold"/>
                  <a:cs typeface="Work Sans Bold"/>
                  <a:sym typeface="Work Sans Bold"/>
                </a:rPr>
                <a:t>Personal Identifiers</a:t>
              </a:r>
            </a:p>
          </p:txBody>
        </p:sp>
        <p:sp>
          <p:nvSpPr>
            <p:cNvPr name="TextBox 19" id="19"/>
            <p:cNvSpPr txBox="true"/>
            <p:nvPr/>
          </p:nvSpPr>
          <p:spPr>
            <a:xfrm rot="0">
              <a:off x="0" y="707731"/>
              <a:ext cx="8483137" cy="1374053"/>
            </a:xfrm>
            <a:prstGeom prst="rect">
              <a:avLst/>
            </a:prstGeom>
          </p:spPr>
          <p:txBody>
            <a:bodyPr anchor="t" rtlCol="false" tIns="0" lIns="0" bIns="0" rIns="0">
              <a:spAutoFit/>
            </a:bodyPr>
            <a:lstStyle/>
            <a:p>
              <a:pPr algn="l" marL="426802" indent="-213401" lvl="1">
                <a:lnSpc>
                  <a:spcPts val="2767"/>
                </a:lnSpc>
                <a:spcBef>
                  <a:spcPct val="0"/>
                </a:spcBef>
                <a:buFont typeface="Arial"/>
                <a:buChar char="•"/>
              </a:pPr>
              <a:r>
                <a:rPr lang="en-US" sz="1976">
                  <a:solidFill>
                    <a:srgbClr val="FFFFFF"/>
                  </a:solidFill>
                  <a:latin typeface="Work Sans"/>
                  <a:ea typeface="Work Sans"/>
                  <a:cs typeface="Work Sans"/>
                  <a:sym typeface="Work Sans"/>
                </a:rPr>
                <a:t>Detect potential person n</a:t>
              </a:r>
              <a:r>
                <a:rPr lang="en-US" sz="1976">
                  <a:solidFill>
                    <a:srgbClr val="FFFFFF"/>
                  </a:solidFill>
                  <a:latin typeface="Work Sans"/>
                  <a:ea typeface="Work Sans"/>
                  <a:cs typeface="Work Sans"/>
                  <a:sym typeface="Work Sans"/>
                </a:rPr>
                <a:t>ames.</a:t>
              </a:r>
            </a:p>
            <a:p>
              <a:pPr algn="l" marL="426802" indent="-213401" lvl="1">
                <a:lnSpc>
                  <a:spcPts val="2767"/>
                </a:lnSpc>
                <a:spcBef>
                  <a:spcPct val="0"/>
                </a:spcBef>
                <a:buFont typeface="Arial"/>
                <a:buChar char="•"/>
              </a:pPr>
              <a:r>
                <a:rPr lang="en-US" sz="1976">
                  <a:solidFill>
                    <a:srgbClr val="FFFFFF"/>
                  </a:solidFill>
                  <a:latin typeface="Work Sans"/>
                  <a:ea typeface="Work Sans"/>
                  <a:cs typeface="Work Sans"/>
                  <a:sym typeface="Work Sans"/>
                </a:rPr>
                <a:t>Use spaCy Named Entity Recognition (NER).</a:t>
              </a:r>
            </a:p>
            <a:p>
              <a:pPr algn="l">
                <a:lnSpc>
                  <a:spcPts val="2767"/>
                </a:lnSpc>
                <a:spcBef>
                  <a:spcPct val="0"/>
                </a:spcBef>
              </a:pPr>
            </a:p>
          </p:txBody>
        </p:sp>
      </p:grpSp>
      <p:grpSp>
        <p:nvGrpSpPr>
          <p:cNvPr name="Group 20" id="20"/>
          <p:cNvGrpSpPr/>
          <p:nvPr/>
        </p:nvGrpSpPr>
        <p:grpSpPr>
          <a:xfrm rot="0">
            <a:off x="10405949" y="3279041"/>
            <a:ext cx="6362353" cy="1561338"/>
            <a:chOff x="0" y="0"/>
            <a:chExt cx="8483137" cy="2081784"/>
          </a:xfrm>
        </p:grpSpPr>
        <p:sp>
          <p:nvSpPr>
            <p:cNvPr name="TextBox 21" id="21"/>
            <p:cNvSpPr txBox="true"/>
            <p:nvPr/>
          </p:nvSpPr>
          <p:spPr>
            <a:xfrm rot="0">
              <a:off x="0" y="-66675"/>
              <a:ext cx="8483137" cy="625700"/>
            </a:xfrm>
            <a:prstGeom prst="rect">
              <a:avLst/>
            </a:prstGeom>
          </p:spPr>
          <p:txBody>
            <a:bodyPr anchor="t" rtlCol="false" tIns="0" lIns="0" bIns="0" rIns="0">
              <a:spAutoFit/>
            </a:bodyPr>
            <a:lstStyle/>
            <a:p>
              <a:pPr algn="l">
                <a:lnSpc>
                  <a:spcPts val="3874"/>
                </a:lnSpc>
                <a:spcBef>
                  <a:spcPct val="0"/>
                </a:spcBef>
              </a:pPr>
              <a:r>
                <a:rPr lang="en-US" b="true" sz="2767">
                  <a:solidFill>
                    <a:srgbClr val="FFFFFF"/>
                  </a:solidFill>
                  <a:latin typeface="Work Sans Bold"/>
                  <a:ea typeface="Work Sans Bold"/>
                  <a:cs typeface="Work Sans Bold"/>
                  <a:sym typeface="Work Sans Bold"/>
                </a:rPr>
                <a:t>Contact Information</a:t>
              </a:r>
            </a:p>
          </p:txBody>
        </p:sp>
        <p:sp>
          <p:nvSpPr>
            <p:cNvPr name="TextBox 22" id="22"/>
            <p:cNvSpPr txBox="true"/>
            <p:nvPr/>
          </p:nvSpPr>
          <p:spPr>
            <a:xfrm rot="0">
              <a:off x="0" y="707731"/>
              <a:ext cx="8483137" cy="1374053"/>
            </a:xfrm>
            <a:prstGeom prst="rect">
              <a:avLst/>
            </a:prstGeom>
          </p:spPr>
          <p:txBody>
            <a:bodyPr anchor="t" rtlCol="false" tIns="0" lIns="0" bIns="0" rIns="0">
              <a:spAutoFit/>
            </a:bodyPr>
            <a:lstStyle/>
            <a:p>
              <a:pPr algn="l" marL="426802" indent="-213401" lvl="1">
                <a:lnSpc>
                  <a:spcPts val="2767"/>
                </a:lnSpc>
                <a:spcBef>
                  <a:spcPct val="0"/>
                </a:spcBef>
                <a:buFont typeface="Arial"/>
                <a:buChar char="•"/>
              </a:pPr>
              <a:r>
                <a:rPr lang="en-US" sz="1976">
                  <a:solidFill>
                    <a:srgbClr val="FFFFFF"/>
                  </a:solidFill>
                  <a:latin typeface="Work Sans"/>
                  <a:ea typeface="Work Sans"/>
                  <a:cs typeface="Work Sans"/>
                  <a:sym typeface="Work Sans"/>
                </a:rPr>
                <a:t>Detect email</a:t>
              </a:r>
              <a:r>
                <a:rPr lang="en-US" sz="1976">
                  <a:solidFill>
                    <a:srgbClr val="FFFFFF"/>
                  </a:solidFill>
                  <a:latin typeface="Work Sans"/>
                  <a:ea typeface="Work Sans"/>
                  <a:cs typeface="Work Sans"/>
                  <a:sym typeface="Work Sans"/>
                </a:rPr>
                <a:t> addresses using regex.</a:t>
              </a:r>
            </a:p>
            <a:p>
              <a:pPr algn="l" marL="426802" indent="-213401" lvl="1">
                <a:lnSpc>
                  <a:spcPts val="2767"/>
                </a:lnSpc>
                <a:spcBef>
                  <a:spcPct val="0"/>
                </a:spcBef>
                <a:buFont typeface="Arial"/>
                <a:buChar char="•"/>
              </a:pPr>
              <a:r>
                <a:rPr lang="en-US" sz="1976">
                  <a:solidFill>
                    <a:srgbClr val="FFFFFF"/>
                  </a:solidFill>
                  <a:latin typeface="Work Sans"/>
                  <a:ea typeface="Work Sans"/>
                  <a:cs typeface="Work Sans"/>
                  <a:sym typeface="Work Sans"/>
                </a:rPr>
                <a:t>Detect Indian mobile phone numbers.</a:t>
              </a:r>
            </a:p>
            <a:p>
              <a:pPr algn="l">
                <a:lnSpc>
                  <a:spcPts val="2767"/>
                </a:lnSpc>
                <a:spcBef>
                  <a:spcPct val="0"/>
                </a:spcBef>
              </a:pPr>
            </a:p>
          </p:txBody>
        </p:sp>
      </p:grpSp>
      <p:grpSp>
        <p:nvGrpSpPr>
          <p:cNvPr name="Group 23" id="23"/>
          <p:cNvGrpSpPr/>
          <p:nvPr/>
        </p:nvGrpSpPr>
        <p:grpSpPr>
          <a:xfrm rot="0">
            <a:off x="10405949" y="5419698"/>
            <a:ext cx="6362353" cy="1762434"/>
            <a:chOff x="0" y="0"/>
            <a:chExt cx="8483137" cy="2349912"/>
          </a:xfrm>
        </p:grpSpPr>
        <p:sp>
          <p:nvSpPr>
            <p:cNvPr name="TextBox 24" id="24"/>
            <p:cNvSpPr txBox="true"/>
            <p:nvPr/>
          </p:nvSpPr>
          <p:spPr>
            <a:xfrm rot="0">
              <a:off x="0" y="-66675"/>
              <a:ext cx="8483137" cy="625700"/>
            </a:xfrm>
            <a:prstGeom prst="rect">
              <a:avLst/>
            </a:prstGeom>
          </p:spPr>
          <p:txBody>
            <a:bodyPr anchor="t" rtlCol="false" tIns="0" lIns="0" bIns="0" rIns="0">
              <a:spAutoFit/>
            </a:bodyPr>
            <a:lstStyle/>
            <a:p>
              <a:pPr algn="l">
                <a:lnSpc>
                  <a:spcPts val="3874"/>
                </a:lnSpc>
                <a:spcBef>
                  <a:spcPct val="0"/>
                </a:spcBef>
              </a:pPr>
              <a:r>
                <a:rPr lang="en-US" b="true" sz="2767">
                  <a:solidFill>
                    <a:srgbClr val="FFFFFF"/>
                  </a:solidFill>
                  <a:latin typeface="Work Sans Bold"/>
                  <a:ea typeface="Work Sans Bold"/>
                  <a:cs typeface="Work Sans Bold"/>
                  <a:sym typeface="Work Sans Bold"/>
                </a:rPr>
                <a:t>Technical Identifiers</a:t>
              </a:r>
            </a:p>
          </p:txBody>
        </p:sp>
        <p:sp>
          <p:nvSpPr>
            <p:cNvPr name="TextBox 25" id="25"/>
            <p:cNvSpPr txBox="true"/>
            <p:nvPr/>
          </p:nvSpPr>
          <p:spPr>
            <a:xfrm rot="0">
              <a:off x="0" y="511400"/>
              <a:ext cx="8483137" cy="1838512"/>
            </a:xfrm>
            <a:prstGeom prst="rect">
              <a:avLst/>
            </a:prstGeom>
          </p:spPr>
          <p:txBody>
            <a:bodyPr anchor="t" rtlCol="false" tIns="0" lIns="0" bIns="0" rIns="0">
              <a:spAutoFit/>
            </a:bodyPr>
            <a:lstStyle/>
            <a:p>
              <a:pPr algn="l" marL="426802" indent="-213401" lvl="1">
                <a:lnSpc>
                  <a:spcPts val="2767"/>
                </a:lnSpc>
                <a:spcBef>
                  <a:spcPct val="0"/>
                </a:spcBef>
                <a:buFont typeface="Arial"/>
                <a:buChar char="•"/>
              </a:pPr>
              <a:r>
                <a:rPr lang="en-US" sz="1976">
                  <a:solidFill>
                    <a:srgbClr val="FFFFFF"/>
                  </a:solidFill>
                  <a:latin typeface="Work Sans"/>
                  <a:ea typeface="Work Sans"/>
                  <a:cs typeface="Work Sans"/>
                  <a:sym typeface="Work Sans"/>
                </a:rPr>
                <a:t>Detect and validate</a:t>
              </a:r>
              <a:r>
                <a:rPr lang="en-US" sz="1976">
                  <a:solidFill>
                    <a:srgbClr val="FFFFFF"/>
                  </a:solidFill>
                  <a:latin typeface="Work Sans"/>
                  <a:ea typeface="Work Sans"/>
                  <a:cs typeface="Work Sans"/>
                  <a:sym typeface="Work Sans"/>
                </a:rPr>
                <a:t> IPv4 addresses.</a:t>
              </a:r>
            </a:p>
            <a:p>
              <a:pPr algn="l" marL="426802" indent="-213401" lvl="1">
                <a:lnSpc>
                  <a:spcPts val="2767"/>
                </a:lnSpc>
                <a:spcBef>
                  <a:spcPct val="0"/>
                </a:spcBef>
                <a:buFont typeface="Arial"/>
                <a:buChar char="•"/>
              </a:pPr>
              <a:r>
                <a:rPr lang="en-US" sz="1976">
                  <a:solidFill>
                    <a:srgbClr val="FFFFFF"/>
                  </a:solidFill>
                  <a:latin typeface="Work Sans"/>
                  <a:ea typeface="Work Sans"/>
                  <a:cs typeface="Work Sans"/>
                  <a:sym typeface="Work Sans"/>
                </a:rPr>
                <a:t>Identify supported employee and account ID patterns.</a:t>
              </a:r>
            </a:p>
            <a:p>
              <a:pPr algn="l">
                <a:lnSpc>
                  <a:spcPts val="2767"/>
                </a:lnSpc>
                <a:spcBef>
                  <a:spcPct val="0"/>
                </a:spcBef>
              </a:pPr>
            </a:p>
          </p:txBody>
        </p:sp>
      </p:grpSp>
      <p:sp>
        <p:nvSpPr>
          <p:cNvPr name="TextBox 26" id="26"/>
          <p:cNvSpPr txBox="true"/>
          <p:nvPr/>
        </p:nvSpPr>
        <p:spPr>
          <a:xfrm rot="0">
            <a:off x="10405949" y="7514161"/>
            <a:ext cx="6362353" cy="485944"/>
          </a:xfrm>
          <a:prstGeom prst="rect">
            <a:avLst/>
          </a:prstGeom>
        </p:spPr>
        <p:txBody>
          <a:bodyPr anchor="t" rtlCol="false" tIns="0" lIns="0" bIns="0" rIns="0">
            <a:spAutoFit/>
          </a:bodyPr>
          <a:lstStyle/>
          <a:p>
            <a:pPr algn="l">
              <a:lnSpc>
                <a:spcPts val="3874"/>
              </a:lnSpc>
              <a:spcBef>
                <a:spcPct val="0"/>
              </a:spcBef>
            </a:pPr>
            <a:r>
              <a:rPr lang="en-US" b="true" sz="2767">
                <a:solidFill>
                  <a:srgbClr val="FFFFFF"/>
                </a:solidFill>
                <a:latin typeface="Work Sans Bold"/>
                <a:ea typeface="Work Sans Bold"/>
                <a:cs typeface="Work Sans Bold"/>
                <a:sym typeface="Work Sans Bold"/>
              </a:rPr>
              <a:t>Detection Output</a:t>
            </a:r>
          </a:p>
        </p:txBody>
      </p:sp>
      <p:sp>
        <p:nvSpPr>
          <p:cNvPr name="TextBox 27" id="27"/>
          <p:cNvSpPr txBox="true"/>
          <p:nvPr/>
        </p:nvSpPr>
        <p:spPr>
          <a:xfrm rot="0">
            <a:off x="10405949" y="8034830"/>
            <a:ext cx="6362353" cy="1250268"/>
          </a:xfrm>
          <a:prstGeom prst="rect">
            <a:avLst/>
          </a:prstGeom>
        </p:spPr>
        <p:txBody>
          <a:bodyPr anchor="t" rtlCol="false" tIns="0" lIns="0" bIns="0" rIns="0">
            <a:spAutoFit/>
          </a:bodyPr>
          <a:lstStyle/>
          <a:p>
            <a:pPr algn="l" marL="383621" indent="-191811" lvl="1">
              <a:lnSpc>
                <a:spcPts val="2487"/>
              </a:lnSpc>
              <a:spcBef>
                <a:spcPct val="0"/>
              </a:spcBef>
              <a:buFont typeface="Arial"/>
              <a:buChar char="•"/>
            </a:pPr>
            <a:r>
              <a:rPr lang="en-US" sz="1776">
                <a:solidFill>
                  <a:srgbClr val="FFFFFF"/>
                </a:solidFill>
                <a:latin typeface="Work Sans"/>
                <a:ea typeface="Work Sans"/>
                <a:cs typeface="Work Sans"/>
                <a:sym typeface="Work Sans"/>
              </a:rPr>
              <a:t>Classify each detected PII type.</a:t>
            </a:r>
          </a:p>
          <a:p>
            <a:pPr algn="l" marL="383621" indent="-191811" lvl="1">
              <a:lnSpc>
                <a:spcPts val="2487"/>
              </a:lnSpc>
              <a:spcBef>
                <a:spcPct val="0"/>
              </a:spcBef>
              <a:buFont typeface="Arial"/>
              <a:buChar char="•"/>
            </a:pPr>
            <a:r>
              <a:rPr lang="en-US" sz="1776">
                <a:solidFill>
                  <a:srgbClr val="FFFFFF"/>
                </a:solidFill>
                <a:latin typeface="Work Sans"/>
                <a:ea typeface="Work Sans"/>
                <a:cs typeface="Work Sans"/>
                <a:sym typeface="Work Sans"/>
              </a:rPr>
              <a:t>Record source location and segment ID.</a:t>
            </a:r>
          </a:p>
          <a:p>
            <a:pPr algn="l" marL="383621" indent="-191811" lvl="1">
              <a:lnSpc>
                <a:spcPts val="2487"/>
              </a:lnSpc>
              <a:spcBef>
                <a:spcPct val="0"/>
              </a:spcBef>
              <a:buFont typeface="Arial"/>
              <a:buChar char="•"/>
            </a:pPr>
            <a:r>
              <a:rPr lang="en-US" sz="1776">
                <a:solidFill>
                  <a:srgbClr val="FFFFFF"/>
                </a:solidFill>
                <a:latin typeface="Work Sans"/>
                <a:ea typeface="Work Sans"/>
                <a:cs typeface="Work Sans"/>
                <a:sym typeface="Work Sans"/>
              </a:rPr>
              <a:t>Store character positions and detection method.</a:t>
            </a:r>
          </a:p>
          <a:p>
            <a:pPr algn="l">
              <a:lnSpc>
                <a:spcPts val="2487"/>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33333">
              <a:srgbClr val="6D8080">
                <a:alpha val="100000"/>
              </a:srgbClr>
            </a:gs>
            <a:gs pos="66667">
              <a:srgbClr val="29464A">
                <a:alpha val="100000"/>
              </a:srgbClr>
            </a:gs>
            <a:gs pos="100000">
              <a:srgbClr val="BDCBBB">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7281468" y="629841"/>
            <a:ext cx="4869853" cy="5202961"/>
            <a:chOff x="0" y="0"/>
            <a:chExt cx="1282595" cy="1370327"/>
          </a:xfrm>
        </p:grpSpPr>
        <p:sp>
          <p:nvSpPr>
            <p:cNvPr name="Freeform 3" id="3"/>
            <p:cNvSpPr/>
            <p:nvPr/>
          </p:nvSpPr>
          <p:spPr>
            <a:xfrm flipH="false" flipV="false" rot="0">
              <a:off x="0" y="0"/>
              <a:ext cx="1282595" cy="1370327"/>
            </a:xfrm>
            <a:custGeom>
              <a:avLst/>
              <a:gdLst/>
              <a:ahLst/>
              <a:cxnLst/>
              <a:rect r="r" b="b" t="t" l="l"/>
              <a:pathLst>
                <a:path h="1370327" w="1282595">
                  <a:moveTo>
                    <a:pt x="15898" y="0"/>
                  </a:moveTo>
                  <a:lnTo>
                    <a:pt x="1266697" y="0"/>
                  </a:lnTo>
                  <a:cubicBezTo>
                    <a:pt x="1270914" y="0"/>
                    <a:pt x="1274957" y="1675"/>
                    <a:pt x="1277939" y="4656"/>
                  </a:cubicBezTo>
                  <a:cubicBezTo>
                    <a:pt x="1280920" y="7638"/>
                    <a:pt x="1282595" y="11681"/>
                    <a:pt x="1282595" y="15898"/>
                  </a:cubicBezTo>
                  <a:lnTo>
                    <a:pt x="1282595" y="1354429"/>
                  </a:lnTo>
                  <a:cubicBezTo>
                    <a:pt x="1282595" y="1363210"/>
                    <a:pt x="1275478" y="1370327"/>
                    <a:pt x="1266697" y="1370327"/>
                  </a:cubicBezTo>
                  <a:lnTo>
                    <a:pt x="15898" y="1370327"/>
                  </a:lnTo>
                  <a:cubicBezTo>
                    <a:pt x="7118" y="1370327"/>
                    <a:pt x="0" y="1363210"/>
                    <a:pt x="0" y="1354429"/>
                  </a:cubicBezTo>
                  <a:lnTo>
                    <a:pt x="0" y="15898"/>
                  </a:lnTo>
                  <a:cubicBezTo>
                    <a:pt x="0" y="7118"/>
                    <a:pt x="7118" y="0"/>
                    <a:pt x="15898" y="0"/>
                  </a:cubicBezTo>
                  <a:close/>
                </a:path>
              </a:pathLst>
            </a:custGeom>
            <a:solidFill>
              <a:srgbClr val="FFFFFF">
                <a:alpha val="29804"/>
              </a:srgbClr>
            </a:solidFill>
            <a:ln w="9525" cap="sq">
              <a:solidFill>
                <a:srgbClr val="9EB49F">
                  <a:alpha val="29804"/>
                </a:srgbClr>
              </a:solidFill>
              <a:prstDash val="solid"/>
              <a:miter/>
            </a:ln>
          </p:spPr>
        </p:sp>
        <p:sp>
          <p:nvSpPr>
            <p:cNvPr name="TextBox 4" id="4"/>
            <p:cNvSpPr txBox="true"/>
            <p:nvPr/>
          </p:nvSpPr>
          <p:spPr>
            <a:xfrm>
              <a:off x="0" y="-76200"/>
              <a:ext cx="1282595" cy="1446527"/>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5" id="5"/>
          <p:cNvGrpSpPr/>
          <p:nvPr/>
        </p:nvGrpSpPr>
        <p:grpSpPr>
          <a:xfrm rot="0">
            <a:off x="12389447" y="629841"/>
            <a:ext cx="4869853" cy="5202961"/>
            <a:chOff x="0" y="0"/>
            <a:chExt cx="1282595" cy="1370327"/>
          </a:xfrm>
        </p:grpSpPr>
        <p:sp>
          <p:nvSpPr>
            <p:cNvPr name="Freeform 6" id="6"/>
            <p:cNvSpPr/>
            <p:nvPr/>
          </p:nvSpPr>
          <p:spPr>
            <a:xfrm flipH="false" flipV="false" rot="0">
              <a:off x="0" y="0"/>
              <a:ext cx="1282595" cy="1370327"/>
            </a:xfrm>
            <a:custGeom>
              <a:avLst/>
              <a:gdLst/>
              <a:ahLst/>
              <a:cxnLst/>
              <a:rect r="r" b="b" t="t" l="l"/>
              <a:pathLst>
                <a:path h="1370327" w="1282595">
                  <a:moveTo>
                    <a:pt x="15898" y="0"/>
                  </a:moveTo>
                  <a:lnTo>
                    <a:pt x="1266697" y="0"/>
                  </a:lnTo>
                  <a:cubicBezTo>
                    <a:pt x="1270914" y="0"/>
                    <a:pt x="1274957" y="1675"/>
                    <a:pt x="1277939" y="4656"/>
                  </a:cubicBezTo>
                  <a:cubicBezTo>
                    <a:pt x="1280920" y="7638"/>
                    <a:pt x="1282595" y="11681"/>
                    <a:pt x="1282595" y="15898"/>
                  </a:cubicBezTo>
                  <a:lnTo>
                    <a:pt x="1282595" y="1354429"/>
                  </a:lnTo>
                  <a:cubicBezTo>
                    <a:pt x="1282595" y="1363210"/>
                    <a:pt x="1275478" y="1370327"/>
                    <a:pt x="1266697" y="1370327"/>
                  </a:cubicBezTo>
                  <a:lnTo>
                    <a:pt x="15898" y="1370327"/>
                  </a:lnTo>
                  <a:cubicBezTo>
                    <a:pt x="7118" y="1370327"/>
                    <a:pt x="0" y="1363210"/>
                    <a:pt x="0" y="1354429"/>
                  </a:cubicBezTo>
                  <a:lnTo>
                    <a:pt x="0" y="15898"/>
                  </a:lnTo>
                  <a:cubicBezTo>
                    <a:pt x="0" y="7118"/>
                    <a:pt x="7118" y="0"/>
                    <a:pt x="15898" y="0"/>
                  </a:cubicBezTo>
                  <a:close/>
                </a:path>
              </a:pathLst>
            </a:custGeom>
            <a:solidFill>
              <a:srgbClr val="FFFFFF">
                <a:alpha val="29804"/>
              </a:srgbClr>
            </a:solidFill>
            <a:ln w="9525" cap="sq">
              <a:solidFill>
                <a:srgbClr val="9EB49F">
                  <a:alpha val="29804"/>
                </a:srgbClr>
              </a:solidFill>
              <a:prstDash val="solid"/>
              <a:miter/>
            </a:ln>
          </p:spPr>
        </p:sp>
        <p:sp>
          <p:nvSpPr>
            <p:cNvPr name="TextBox 7" id="7"/>
            <p:cNvSpPr txBox="true"/>
            <p:nvPr/>
          </p:nvSpPr>
          <p:spPr>
            <a:xfrm>
              <a:off x="0" y="-76200"/>
              <a:ext cx="1282595" cy="1446527"/>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Freeform 8" id="8"/>
          <p:cNvSpPr/>
          <p:nvPr/>
        </p:nvSpPr>
        <p:spPr>
          <a:xfrm flipH="false" flipV="false" rot="0">
            <a:off x="-436693" y="3944099"/>
            <a:ext cx="5310175" cy="8514858"/>
          </a:xfrm>
          <a:custGeom>
            <a:avLst/>
            <a:gdLst/>
            <a:ahLst/>
            <a:cxnLst/>
            <a:rect r="r" b="b" t="t" l="l"/>
            <a:pathLst>
              <a:path h="8514858" w="5310175">
                <a:moveTo>
                  <a:pt x="0" y="0"/>
                </a:moveTo>
                <a:lnTo>
                  <a:pt x="5310175" y="0"/>
                </a:lnTo>
                <a:lnTo>
                  <a:pt x="5310175" y="8514858"/>
                </a:lnTo>
                <a:lnTo>
                  <a:pt x="0" y="8514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7605597" y="798712"/>
            <a:ext cx="4221596" cy="428625"/>
          </a:xfrm>
          <a:prstGeom prst="rect">
            <a:avLst/>
          </a:prstGeom>
        </p:spPr>
        <p:txBody>
          <a:bodyPr anchor="t" rtlCol="false" tIns="0" lIns="0" bIns="0" rIns="0">
            <a:spAutoFit/>
          </a:bodyPr>
          <a:lstStyle/>
          <a:p>
            <a:pPr algn="ctr" marL="0" indent="0" lvl="0">
              <a:lnSpc>
                <a:spcPts val="3360"/>
              </a:lnSpc>
              <a:spcBef>
                <a:spcPct val="0"/>
              </a:spcBef>
            </a:pPr>
            <a:r>
              <a:rPr lang="en-US" b="true" sz="2800">
                <a:solidFill>
                  <a:srgbClr val="FFFFFF"/>
                </a:solidFill>
                <a:latin typeface="Work Sans Bold"/>
                <a:ea typeface="Work Sans Bold"/>
                <a:cs typeface="Work Sans Bold"/>
                <a:sym typeface="Work Sans Bold"/>
              </a:rPr>
              <a:t>PII Redaction</a:t>
            </a:r>
          </a:p>
        </p:txBody>
      </p:sp>
      <p:sp>
        <p:nvSpPr>
          <p:cNvPr name="TextBox 10" id="10"/>
          <p:cNvSpPr txBox="true"/>
          <p:nvPr/>
        </p:nvSpPr>
        <p:spPr>
          <a:xfrm rot="0">
            <a:off x="7519583" y="1532731"/>
            <a:ext cx="4393625" cy="359918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Work Sans"/>
                <a:ea typeface="Work Sans"/>
                <a:cs typeface="Work Sans"/>
                <a:sym typeface="Work Sans"/>
              </a:rPr>
              <a:t>Replace detected sensitive values with placeholders.</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Preserve surrounding text wherever possible.</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Gene</a:t>
            </a:r>
            <a:r>
              <a:rPr lang="en-US" sz="2300">
                <a:solidFill>
                  <a:srgbClr val="FFFFFF"/>
                </a:solidFill>
                <a:latin typeface="Work Sans"/>
                <a:ea typeface="Work Sans"/>
                <a:cs typeface="Work Sans"/>
                <a:sym typeface="Work Sans"/>
              </a:rPr>
              <a:t>rate sanitized text for downstream processing.</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Prevent unredacted PII from reaching the LLM.</a:t>
            </a:r>
          </a:p>
          <a:p>
            <a:pPr algn="l" marL="0" indent="0" lvl="0">
              <a:lnSpc>
                <a:spcPts val="3220"/>
              </a:lnSpc>
              <a:spcBef>
                <a:spcPct val="0"/>
              </a:spcBef>
            </a:pPr>
          </a:p>
        </p:txBody>
      </p:sp>
      <p:sp>
        <p:nvSpPr>
          <p:cNvPr name="TextBox 11" id="11"/>
          <p:cNvSpPr txBox="true"/>
          <p:nvPr/>
        </p:nvSpPr>
        <p:spPr>
          <a:xfrm rot="0">
            <a:off x="1028700" y="1254238"/>
            <a:ext cx="5690793" cy="2689861"/>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Glock Grotesk"/>
                <a:ea typeface="Glock Grotesk"/>
                <a:cs typeface="Glock Grotesk"/>
                <a:sym typeface="Glock Grotesk"/>
              </a:rPr>
              <a:t>Red</a:t>
            </a:r>
            <a:r>
              <a:rPr lang="en-US" b="true" sz="5099" strike="noStrike" u="none">
                <a:solidFill>
                  <a:srgbClr val="FFFFFF"/>
                </a:solidFill>
                <a:latin typeface="Glock Grotesk"/>
                <a:ea typeface="Glock Grotesk"/>
                <a:cs typeface="Glock Grotesk"/>
                <a:sym typeface="Glock Grotesk"/>
              </a:rPr>
              <a:t>a</a:t>
            </a:r>
            <a:r>
              <a:rPr lang="en-US" b="true" sz="5099" strike="noStrike" u="none">
                <a:solidFill>
                  <a:srgbClr val="FFFFFF"/>
                </a:solidFill>
                <a:latin typeface="Glock Grotesk"/>
                <a:ea typeface="Glock Grotesk"/>
                <a:cs typeface="Glock Grotesk"/>
                <a:sym typeface="Glock Grotesk"/>
              </a:rPr>
              <a:t>ctio</a:t>
            </a:r>
            <a:r>
              <a:rPr lang="en-US" b="true" sz="5099" strike="noStrike" u="none">
                <a:solidFill>
                  <a:srgbClr val="FFFFFF"/>
                </a:solidFill>
                <a:latin typeface="Glock Grotesk"/>
                <a:ea typeface="Glock Grotesk"/>
                <a:cs typeface="Glock Grotesk"/>
                <a:sym typeface="Glock Grotesk"/>
              </a:rPr>
              <a:t>n &amp; Source Traceability</a:t>
            </a:r>
          </a:p>
        </p:txBody>
      </p:sp>
      <p:sp>
        <p:nvSpPr>
          <p:cNvPr name="TextBox 12" id="12"/>
          <p:cNvSpPr txBox="true"/>
          <p:nvPr/>
        </p:nvSpPr>
        <p:spPr>
          <a:xfrm rot="0">
            <a:off x="12713575" y="798712"/>
            <a:ext cx="4221596" cy="428625"/>
          </a:xfrm>
          <a:prstGeom prst="rect">
            <a:avLst/>
          </a:prstGeom>
        </p:spPr>
        <p:txBody>
          <a:bodyPr anchor="t" rtlCol="false" tIns="0" lIns="0" bIns="0" rIns="0">
            <a:spAutoFit/>
          </a:bodyPr>
          <a:lstStyle/>
          <a:p>
            <a:pPr algn="ctr" marL="0" indent="0" lvl="0">
              <a:lnSpc>
                <a:spcPts val="3360"/>
              </a:lnSpc>
              <a:spcBef>
                <a:spcPct val="0"/>
              </a:spcBef>
            </a:pPr>
            <a:r>
              <a:rPr lang="en-US" b="true" sz="2800">
                <a:solidFill>
                  <a:srgbClr val="FFFFFF"/>
                </a:solidFill>
                <a:latin typeface="Work Sans Bold"/>
                <a:ea typeface="Work Sans Bold"/>
                <a:cs typeface="Work Sans Bold"/>
                <a:sym typeface="Work Sans Bold"/>
              </a:rPr>
              <a:t>Source Traceability</a:t>
            </a:r>
          </a:p>
        </p:txBody>
      </p:sp>
      <p:sp>
        <p:nvSpPr>
          <p:cNvPr name="TextBox 13" id="13"/>
          <p:cNvSpPr txBox="true"/>
          <p:nvPr/>
        </p:nvSpPr>
        <p:spPr>
          <a:xfrm rot="0">
            <a:off x="12627561" y="1532731"/>
            <a:ext cx="4393625" cy="418719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Work Sans"/>
                <a:ea typeface="Work Sans"/>
                <a:cs typeface="Work Sans"/>
                <a:sym typeface="Work Sans"/>
              </a:rPr>
              <a:t>Record the source document.</a:t>
            </a:r>
          </a:p>
          <a:p>
            <a:pPr algn="l" marL="518160" indent="-259080" lvl="1">
              <a:lnSpc>
                <a:spcPts val="3359"/>
              </a:lnSpc>
              <a:buFont typeface="Arial"/>
              <a:buChar char="•"/>
            </a:pPr>
            <a:r>
              <a:rPr lang="en-US" sz="2400">
                <a:solidFill>
                  <a:srgbClr val="FFFFFF"/>
                </a:solidFill>
                <a:latin typeface="Work Sans"/>
                <a:ea typeface="Work Sans"/>
                <a:cs typeface="Work Sans"/>
                <a:sym typeface="Work Sans"/>
              </a:rPr>
              <a:t>Pr</a:t>
            </a:r>
            <a:r>
              <a:rPr lang="en-US" sz="2400">
                <a:solidFill>
                  <a:srgbClr val="FFFFFF"/>
                </a:solidFill>
                <a:latin typeface="Work Sans"/>
                <a:ea typeface="Work Sans"/>
                <a:cs typeface="Work Sans"/>
                <a:sym typeface="Work Sans"/>
              </a:rPr>
              <a:t>eserve page, slide, and segment references.</a:t>
            </a:r>
          </a:p>
          <a:p>
            <a:pPr algn="l" marL="518160" indent="-259080" lvl="1">
              <a:lnSpc>
                <a:spcPts val="3359"/>
              </a:lnSpc>
              <a:buFont typeface="Arial"/>
              <a:buChar char="•"/>
            </a:pPr>
            <a:r>
              <a:rPr lang="en-US" sz="2400">
                <a:solidFill>
                  <a:srgbClr val="FFFFFF"/>
                </a:solidFill>
                <a:latin typeface="Work Sans"/>
                <a:ea typeface="Work Sans"/>
                <a:cs typeface="Work Sans"/>
                <a:sym typeface="Work Sans"/>
              </a:rPr>
              <a:t>Store the detected entity type and character positions.</a:t>
            </a:r>
          </a:p>
          <a:p>
            <a:pPr algn="l" marL="518160" indent="-259080" lvl="1">
              <a:lnSpc>
                <a:spcPts val="3359"/>
              </a:lnSpc>
              <a:buFont typeface="Arial"/>
              <a:buChar char="•"/>
            </a:pPr>
            <a:r>
              <a:rPr lang="en-US" sz="2400">
                <a:solidFill>
                  <a:srgbClr val="FFFFFF"/>
                </a:solidFill>
                <a:latin typeface="Work Sans"/>
                <a:ea typeface="Work Sans"/>
                <a:cs typeface="Work Sans"/>
                <a:sym typeface="Work Sans"/>
              </a:rPr>
              <a:t>Link each finding to its original extracted text.</a:t>
            </a:r>
          </a:p>
          <a:p>
            <a:pPr algn="l" marL="0" indent="0" lvl="0">
              <a:lnSpc>
                <a:spcPts val="3359"/>
              </a:lnSpc>
              <a:spcBef>
                <a:spcPct val="0"/>
              </a:spcBef>
            </a:pPr>
          </a:p>
        </p:txBody>
      </p:sp>
      <p:grpSp>
        <p:nvGrpSpPr>
          <p:cNvPr name="Group 14" id="14"/>
          <p:cNvGrpSpPr/>
          <p:nvPr/>
        </p:nvGrpSpPr>
        <p:grpSpPr>
          <a:xfrm rot="0">
            <a:off x="1192936" y="6338411"/>
            <a:ext cx="16066364" cy="3447686"/>
            <a:chOff x="0" y="0"/>
            <a:chExt cx="4231470" cy="908032"/>
          </a:xfrm>
        </p:grpSpPr>
        <p:sp>
          <p:nvSpPr>
            <p:cNvPr name="Freeform 15" id="15"/>
            <p:cNvSpPr/>
            <p:nvPr/>
          </p:nvSpPr>
          <p:spPr>
            <a:xfrm flipH="false" flipV="false" rot="0">
              <a:off x="0" y="0"/>
              <a:ext cx="4231470" cy="908032"/>
            </a:xfrm>
            <a:custGeom>
              <a:avLst/>
              <a:gdLst/>
              <a:ahLst/>
              <a:cxnLst/>
              <a:rect r="r" b="b" t="t" l="l"/>
              <a:pathLst>
                <a:path h="908032" w="4231470">
                  <a:moveTo>
                    <a:pt x="4819" y="0"/>
                  </a:moveTo>
                  <a:lnTo>
                    <a:pt x="4226652" y="0"/>
                  </a:lnTo>
                  <a:cubicBezTo>
                    <a:pt x="4227930" y="0"/>
                    <a:pt x="4229155" y="508"/>
                    <a:pt x="4230059" y="1411"/>
                  </a:cubicBezTo>
                  <a:cubicBezTo>
                    <a:pt x="4230963" y="2315"/>
                    <a:pt x="4231470" y="3541"/>
                    <a:pt x="4231470" y="4819"/>
                  </a:cubicBezTo>
                  <a:lnTo>
                    <a:pt x="4231470" y="903214"/>
                  </a:lnTo>
                  <a:cubicBezTo>
                    <a:pt x="4231470" y="905875"/>
                    <a:pt x="4229313" y="908032"/>
                    <a:pt x="4226652" y="908032"/>
                  </a:cubicBezTo>
                  <a:lnTo>
                    <a:pt x="4819" y="908032"/>
                  </a:lnTo>
                  <a:cubicBezTo>
                    <a:pt x="3541" y="908032"/>
                    <a:pt x="2315" y="907525"/>
                    <a:pt x="1411" y="906621"/>
                  </a:cubicBezTo>
                  <a:cubicBezTo>
                    <a:pt x="508" y="905717"/>
                    <a:pt x="0" y="904492"/>
                    <a:pt x="0" y="903214"/>
                  </a:cubicBezTo>
                  <a:lnTo>
                    <a:pt x="0" y="4819"/>
                  </a:lnTo>
                  <a:cubicBezTo>
                    <a:pt x="0" y="3541"/>
                    <a:pt x="508" y="2315"/>
                    <a:pt x="1411" y="1411"/>
                  </a:cubicBezTo>
                  <a:cubicBezTo>
                    <a:pt x="2315" y="508"/>
                    <a:pt x="3541" y="0"/>
                    <a:pt x="4819" y="0"/>
                  </a:cubicBezTo>
                  <a:close/>
                </a:path>
              </a:pathLst>
            </a:custGeom>
            <a:solidFill>
              <a:srgbClr val="FFFFFF">
                <a:alpha val="29804"/>
              </a:srgbClr>
            </a:solidFill>
            <a:ln w="9525" cap="sq">
              <a:solidFill>
                <a:srgbClr val="9EB49F">
                  <a:alpha val="29804"/>
                </a:srgbClr>
              </a:solidFill>
              <a:prstDash val="solid"/>
              <a:miter/>
            </a:ln>
          </p:spPr>
        </p:sp>
        <p:sp>
          <p:nvSpPr>
            <p:cNvPr name="TextBox 16" id="16"/>
            <p:cNvSpPr txBox="true"/>
            <p:nvPr/>
          </p:nvSpPr>
          <p:spPr>
            <a:xfrm>
              <a:off x="0" y="-76200"/>
              <a:ext cx="4231470" cy="984232"/>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17" id="17"/>
          <p:cNvSpPr txBox="true"/>
          <p:nvPr/>
        </p:nvSpPr>
        <p:spPr>
          <a:xfrm rot="0">
            <a:off x="1872549" y="6664663"/>
            <a:ext cx="14761852" cy="428625"/>
          </a:xfrm>
          <a:prstGeom prst="rect">
            <a:avLst/>
          </a:prstGeom>
        </p:spPr>
        <p:txBody>
          <a:bodyPr anchor="t" rtlCol="false" tIns="0" lIns="0" bIns="0" rIns="0">
            <a:spAutoFit/>
          </a:bodyPr>
          <a:lstStyle/>
          <a:p>
            <a:pPr algn="ctr" marL="0" indent="0" lvl="0">
              <a:lnSpc>
                <a:spcPts val="3360"/>
              </a:lnSpc>
              <a:spcBef>
                <a:spcPct val="0"/>
              </a:spcBef>
            </a:pPr>
            <a:r>
              <a:rPr lang="en-US" b="true" sz="2800">
                <a:solidFill>
                  <a:srgbClr val="FFFFFF"/>
                </a:solidFill>
                <a:latin typeface="Work Sans Bold"/>
                <a:ea typeface="Work Sans Bold"/>
                <a:cs typeface="Work Sans Bold"/>
                <a:sym typeface="Work Sans Bold"/>
              </a:rPr>
              <a:t>Example</a:t>
            </a:r>
          </a:p>
        </p:txBody>
      </p:sp>
      <p:sp>
        <p:nvSpPr>
          <p:cNvPr name="TextBox 18" id="18"/>
          <p:cNvSpPr txBox="true"/>
          <p:nvPr/>
        </p:nvSpPr>
        <p:spPr>
          <a:xfrm rot="0">
            <a:off x="1571779" y="7389157"/>
            <a:ext cx="15363392" cy="2472055"/>
          </a:xfrm>
          <a:prstGeom prst="rect">
            <a:avLst/>
          </a:prstGeom>
        </p:spPr>
        <p:txBody>
          <a:bodyPr anchor="t" rtlCol="false" tIns="0" lIns="0" bIns="0" rIns="0">
            <a:spAutoFit/>
          </a:bodyPr>
          <a:lstStyle/>
          <a:p>
            <a:pPr algn="l">
              <a:lnSpc>
                <a:spcPts val="3919"/>
              </a:lnSpc>
            </a:pPr>
            <a:r>
              <a:rPr lang="en-US" sz="2799">
                <a:solidFill>
                  <a:srgbClr val="FFFFFF"/>
                </a:solidFill>
                <a:latin typeface="Work Sans"/>
                <a:ea typeface="Work Sans"/>
                <a:cs typeface="Work Sans"/>
                <a:sym typeface="Work Sans"/>
              </a:rPr>
              <a:t>BEFORE REDACTION</a:t>
            </a:r>
          </a:p>
          <a:p>
            <a:pPr algn="l" marL="604518" indent="-302259" lvl="1">
              <a:lnSpc>
                <a:spcPts val="3919"/>
              </a:lnSpc>
              <a:buFont typeface="Arial"/>
              <a:buChar char="•"/>
            </a:pPr>
            <a:r>
              <a:rPr lang="en-US" sz="2799">
                <a:solidFill>
                  <a:srgbClr val="FFFFFF"/>
                </a:solidFill>
                <a:latin typeface="Work Sans"/>
                <a:ea typeface="Work Sans"/>
                <a:cs typeface="Work Sans"/>
                <a:sym typeface="Work Sans"/>
              </a:rPr>
              <a:t>Contact the customer at alex@example.com for verification.</a:t>
            </a:r>
          </a:p>
          <a:p>
            <a:pPr algn="l">
              <a:lnSpc>
                <a:spcPts val="3919"/>
              </a:lnSpc>
            </a:pPr>
            <a:r>
              <a:rPr lang="en-US" sz="2799">
                <a:solidFill>
                  <a:srgbClr val="FFFFFF"/>
                </a:solidFill>
                <a:latin typeface="Work Sans"/>
                <a:ea typeface="Work Sans"/>
                <a:cs typeface="Work Sans"/>
                <a:sym typeface="Work Sans"/>
              </a:rPr>
              <a:t>AFTER</a:t>
            </a:r>
            <a:r>
              <a:rPr lang="en-US" sz="2799">
                <a:solidFill>
                  <a:srgbClr val="FFFFFF"/>
                </a:solidFill>
                <a:latin typeface="Work Sans"/>
                <a:ea typeface="Work Sans"/>
                <a:cs typeface="Work Sans"/>
                <a:sym typeface="Work Sans"/>
              </a:rPr>
              <a:t> REDACTION</a:t>
            </a:r>
          </a:p>
          <a:p>
            <a:pPr algn="l" marL="604518" indent="-302259" lvl="1">
              <a:lnSpc>
                <a:spcPts val="3919"/>
              </a:lnSpc>
              <a:buFont typeface="Arial"/>
              <a:buChar char="•"/>
            </a:pPr>
            <a:r>
              <a:rPr lang="en-US" sz="2799">
                <a:solidFill>
                  <a:srgbClr val="FFFFFF"/>
                </a:solidFill>
                <a:latin typeface="Work Sans"/>
                <a:ea typeface="Work Sans"/>
                <a:cs typeface="Work Sans"/>
                <a:sym typeface="Work Sans"/>
              </a:rPr>
              <a:t>Contact the customer at [EMAIL_REDACTED] for verification.</a:t>
            </a:r>
          </a:p>
          <a:p>
            <a:pPr algn="l" marL="0" indent="0" lvl="0">
              <a:lnSpc>
                <a:spcPts val="391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7436091">
            <a:off x="-3303733" y="4475852"/>
            <a:ext cx="8279515" cy="10920223"/>
          </a:xfrm>
          <a:custGeom>
            <a:avLst/>
            <a:gdLst/>
            <a:ahLst/>
            <a:cxnLst/>
            <a:rect r="r" b="b" t="t" l="l"/>
            <a:pathLst>
              <a:path h="10920223" w="8279515">
                <a:moveTo>
                  <a:pt x="0" y="0"/>
                </a:moveTo>
                <a:lnTo>
                  <a:pt x="8279515" y="0"/>
                </a:lnTo>
                <a:lnTo>
                  <a:pt x="8279515" y="10920224"/>
                </a:lnTo>
                <a:lnTo>
                  <a:pt x="0" y="10920224"/>
                </a:lnTo>
                <a:lnTo>
                  <a:pt x="0" y="0"/>
                </a:lnTo>
                <a:close/>
              </a:path>
            </a:pathLst>
          </a:custGeom>
          <a:blipFill>
            <a:blip r:embed="rId2">
              <a:alphaModFix amt="8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028700" y="942975"/>
            <a:ext cx="16230600" cy="1571615"/>
          </a:xfrm>
          <a:prstGeom prst="rect">
            <a:avLst/>
          </a:prstGeom>
        </p:spPr>
        <p:txBody>
          <a:bodyPr anchor="t" rtlCol="false" tIns="0" lIns="0" bIns="0" rIns="0">
            <a:spAutoFit/>
          </a:bodyPr>
          <a:lstStyle/>
          <a:p>
            <a:pPr algn="l" marL="0" indent="0" lvl="0">
              <a:lnSpc>
                <a:spcPts val="6300"/>
              </a:lnSpc>
              <a:spcBef>
                <a:spcPct val="0"/>
              </a:spcBef>
            </a:pPr>
            <a:r>
              <a:rPr lang="en-US" sz="4500" spc="-189">
                <a:solidFill>
                  <a:srgbClr val="FFFFFF"/>
                </a:solidFill>
                <a:latin typeface="Glock Grotesk"/>
                <a:ea typeface="Glock Grotesk"/>
                <a:cs typeface="Glock Grotesk"/>
                <a:sym typeface="Glock Grotesk"/>
              </a:rPr>
              <a:t>Math</a:t>
            </a:r>
            <a:r>
              <a:rPr lang="en-US" b="true" sz="4500" spc="-189" strike="noStrike" u="none">
                <a:solidFill>
                  <a:srgbClr val="FFFFFF"/>
                </a:solidFill>
                <a:latin typeface="Glock Grotesk"/>
                <a:ea typeface="Glock Grotesk"/>
                <a:cs typeface="Glock Grotesk"/>
                <a:sym typeface="Glock Grotesk"/>
              </a:rPr>
              <a:t>emat</a:t>
            </a:r>
            <a:r>
              <a:rPr lang="en-US" b="true" sz="4500" spc="-189" strike="noStrike" u="none">
                <a:solidFill>
                  <a:srgbClr val="FFFFFF"/>
                </a:solidFill>
                <a:latin typeface="Glock Grotesk"/>
                <a:ea typeface="Glock Grotesk"/>
                <a:cs typeface="Glock Grotesk"/>
                <a:sym typeface="Glock Grotesk"/>
              </a:rPr>
              <a:t>ical R</a:t>
            </a:r>
            <a:r>
              <a:rPr lang="en-US" b="true" sz="4500" spc="-189" strike="noStrike" u="none">
                <a:solidFill>
                  <a:srgbClr val="FFFFFF"/>
                </a:solidFill>
                <a:latin typeface="Glock Grotesk"/>
                <a:ea typeface="Glock Grotesk"/>
                <a:cs typeface="Glock Grotesk"/>
                <a:sym typeface="Glock Grotesk"/>
              </a:rPr>
              <a:t>edaction </a:t>
            </a:r>
            <a:r>
              <a:rPr lang="en-US" b="true" sz="4500" spc="-189" strike="noStrike" u="none">
                <a:solidFill>
                  <a:srgbClr val="FFFFFF"/>
                </a:solidFill>
                <a:latin typeface="Glock Grotesk"/>
                <a:ea typeface="Glock Grotesk"/>
                <a:cs typeface="Glock Grotesk"/>
                <a:sym typeface="Glock Grotesk"/>
              </a:rPr>
              <a:t>Mechanics </a:t>
            </a:r>
            <a:r>
              <a:rPr lang="en-US" b="true" sz="4500" spc="-189" strike="noStrike" u="none">
                <a:solidFill>
                  <a:srgbClr val="FFFFFF"/>
                </a:solidFill>
                <a:latin typeface="Glock Grotesk"/>
                <a:ea typeface="Glock Grotesk"/>
                <a:cs typeface="Glock Grotesk"/>
                <a:sym typeface="Glock Grotesk"/>
              </a:rPr>
              <a:t>&amp; </a:t>
            </a:r>
            <a:r>
              <a:rPr lang="en-US" b="true" sz="4500" spc="-189" strike="noStrike" u="none">
                <a:solidFill>
                  <a:srgbClr val="FFFFFF"/>
                </a:solidFill>
                <a:latin typeface="Glock Grotesk"/>
                <a:ea typeface="Glock Grotesk"/>
                <a:cs typeface="Glock Grotesk"/>
                <a:sym typeface="Glock Grotesk"/>
              </a:rPr>
              <a:t>R</a:t>
            </a:r>
            <a:r>
              <a:rPr lang="en-US" b="true" sz="4500" spc="-189" strike="noStrike" u="none">
                <a:solidFill>
                  <a:srgbClr val="FFFFFF"/>
                </a:solidFill>
                <a:latin typeface="Glock Grotesk"/>
                <a:ea typeface="Glock Grotesk"/>
                <a:cs typeface="Glock Grotesk"/>
                <a:sym typeface="Glock Grotesk"/>
              </a:rPr>
              <a:t>i</a:t>
            </a:r>
            <a:r>
              <a:rPr lang="en-US" b="true" sz="4500" spc="-189" strike="noStrike" u="none">
                <a:solidFill>
                  <a:srgbClr val="FFFFFF"/>
                </a:solidFill>
                <a:latin typeface="Glock Grotesk"/>
                <a:ea typeface="Glock Grotesk"/>
                <a:cs typeface="Glock Grotesk"/>
                <a:sym typeface="Glock Grotesk"/>
              </a:rPr>
              <a:t>gh</a:t>
            </a:r>
            <a:r>
              <a:rPr lang="en-US" b="true" sz="4500" spc="-189" strike="noStrike" u="none">
                <a:solidFill>
                  <a:srgbClr val="FFFFFF"/>
                </a:solidFill>
                <a:latin typeface="Glock Grotesk"/>
                <a:ea typeface="Glock Grotesk"/>
                <a:cs typeface="Glock Grotesk"/>
                <a:sym typeface="Glock Grotesk"/>
              </a:rPr>
              <a:t>t</a:t>
            </a:r>
            <a:r>
              <a:rPr lang="en-US" b="true" sz="4500" spc="-189" strike="noStrike" u="none">
                <a:solidFill>
                  <a:srgbClr val="FFFFFF"/>
                </a:solidFill>
                <a:latin typeface="Glock Grotesk"/>
                <a:ea typeface="Glock Grotesk"/>
                <a:cs typeface="Glock Grotesk"/>
                <a:sym typeface="Glock Grotesk"/>
              </a:rPr>
              <a:t>-t</a:t>
            </a:r>
            <a:r>
              <a:rPr lang="en-US" b="true" sz="4500" spc="-189" strike="noStrike" u="none">
                <a:solidFill>
                  <a:srgbClr val="FFFFFF"/>
                </a:solidFill>
                <a:latin typeface="Glock Grotesk"/>
                <a:ea typeface="Glock Grotesk"/>
                <a:cs typeface="Glock Grotesk"/>
                <a:sym typeface="Glock Grotesk"/>
              </a:rPr>
              <a:t>o</a:t>
            </a:r>
            <a:r>
              <a:rPr lang="en-US" b="true" sz="4500" spc="-189" strike="noStrike" u="none">
                <a:solidFill>
                  <a:srgbClr val="FFFFFF"/>
                </a:solidFill>
                <a:latin typeface="Glock Grotesk"/>
                <a:ea typeface="Glock Grotesk"/>
                <a:cs typeface="Glock Grotesk"/>
                <a:sym typeface="Glock Grotesk"/>
              </a:rPr>
              <a:t>-Left Offset I</a:t>
            </a:r>
            <a:r>
              <a:rPr lang="en-US" b="true" sz="4500" spc="-189" strike="noStrike" u="none">
                <a:solidFill>
                  <a:srgbClr val="FFFFFF"/>
                </a:solidFill>
                <a:latin typeface="Glock Grotesk"/>
                <a:ea typeface="Glock Grotesk"/>
                <a:cs typeface="Glock Grotesk"/>
                <a:sym typeface="Glock Grotesk"/>
              </a:rPr>
              <a:t>n</a:t>
            </a:r>
            <a:r>
              <a:rPr lang="en-US" b="true" sz="4500" spc="-189" strike="noStrike" u="none">
                <a:solidFill>
                  <a:srgbClr val="FFFFFF"/>
                </a:solidFill>
                <a:latin typeface="Glock Grotesk"/>
                <a:ea typeface="Glock Grotesk"/>
                <a:cs typeface="Glock Grotesk"/>
                <a:sym typeface="Glock Grotesk"/>
              </a:rPr>
              <a:t>tegrity</a:t>
            </a:r>
          </a:p>
        </p:txBody>
      </p:sp>
      <p:grpSp>
        <p:nvGrpSpPr>
          <p:cNvPr name="Group 4" id="4"/>
          <p:cNvGrpSpPr/>
          <p:nvPr/>
        </p:nvGrpSpPr>
        <p:grpSpPr>
          <a:xfrm rot="0">
            <a:off x="3031024" y="2690061"/>
            <a:ext cx="5788948" cy="3500899"/>
            <a:chOff x="0" y="0"/>
            <a:chExt cx="1325951" cy="801876"/>
          </a:xfrm>
        </p:grpSpPr>
        <p:sp>
          <p:nvSpPr>
            <p:cNvPr name="Freeform 5" id="5"/>
            <p:cNvSpPr/>
            <p:nvPr/>
          </p:nvSpPr>
          <p:spPr>
            <a:xfrm flipH="false" flipV="false" rot="0">
              <a:off x="0" y="0"/>
              <a:ext cx="1325951" cy="801876"/>
            </a:xfrm>
            <a:custGeom>
              <a:avLst/>
              <a:gdLst/>
              <a:ahLst/>
              <a:cxnLst/>
              <a:rect r="r" b="b" t="t" l="l"/>
              <a:pathLst>
                <a:path h="801876" w="1325951">
                  <a:moveTo>
                    <a:pt x="13374" y="0"/>
                  </a:moveTo>
                  <a:lnTo>
                    <a:pt x="1312577" y="0"/>
                  </a:lnTo>
                  <a:cubicBezTo>
                    <a:pt x="1319963" y="0"/>
                    <a:pt x="1325951" y="5988"/>
                    <a:pt x="1325951" y="13374"/>
                  </a:cubicBezTo>
                  <a:lnTo>
                    <a:pt x="1325951" y="788503"/>
                  </a:lnTo>
                  <a:cubicBezTo>
                    <a:pt x="1325951" y="795889"/>
                    <a:pt x="1319963" y="801876"/>
                    <a:pt x="1312577" y="801876"/>
                  </a:cubicBezTo>
                  <a:lnTo>
                    <a:pt x="13374" y="801876"/>
                  </a:lnTo>
                  <a:cubicBezTo>
                    <a:pt x="5988" y="801876"/>
                    <a:pt x="0" y="795889"/>
                    <a:pt x="0" y="788503"/>
                  </a:cubicBezTo>
                  <a:lnTo>
                    <a:pt x="0" y="13374"/>
                  </a:lnTo>
                  <a:cubicBezTo>
                    <a:pt x="0" y="5988"/>
                    <a:pt x="5988" y="0"/>
                    <a:pt x="13374" y="0"/>
                  </a:cubicBezTo>
                  <a:close/>
                </a:path>
              </a:pathLst>
            </a:custGeom>
            <a:solidFill>
              <a:srgbClr val="FFFFFF">
                <a:alpha val="19608"/>
              </a:srgbClr>
            </a:solidFill>
            <a:ln w="9525" cap="sq">
              <a:solidFill>
                <a:srgbClr val="9EB49F">
                  <a:alpha val="19608"/>
                </a:srgbClr>
              </a:solidFill>
              <a:prstDash val="solid"/>
              <a:miter/>
            </a:ln>
          </p:spPr>
        </p:sp>
        <p:sp>
          <p:nvSpPr>
            <p:cNvPr name="TextBox 6" id="6"/>
            <p:cNvSpPr txBox="true"/>
            <p:nvPr/>
          </p:nvSpPr>
          <p:spPr>
            <a:xfrm>
              <a:off x="0" y="-76200"/>
              <a:ext cx="1325951" cy="878076"/>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7" id="7"/>
          <p:cNvGrpSpPr/>
          <p:nvPr/>
        </p:nvGrpSpPr>
        <p:grpSpPr>
          <a:xfrm rot="0">
            <a:off x="9468029" y="2690061"/>
            <a:ext cx="5788948" cy="3500899"/>
            <a:chOff x="0" y="0"/>
            <a:chExt cx="1325951" cy="801876"/>
          </a:xfrm>
        </p:grpSpPr>
        <p:sp>
          <p:nvSpPr>
            <p:cNvPr name="Freeform 8" id="8"/>
            <p:cNvSpPr/>
            <p:nvPr/>
          </p:nvSpPr>
          <p:spPr>
            <a:xfrm flipH="false" flipV="false" rot="0">
              <a:off x="0" y="0"/>
              <a:ext cx="1325951" cy="801876"/>
            </a:xfrm>
            <a:custGeom>
              <a:avLst/>
              <a:gdLst/>
              <a:ahLst/>
              <a:cxnLst/>
              <a:rect r="r" b="b" t="t" l="l"/>
              <a:pathLst>
                <a:path h="801876" w="1325951">
                  <a:moveTo>
                    <a:pt x="13374" y="0"/>
                  </a:moveTo>
                  <a:lnTo>
                    <a:pt x="1312577" y="0"/>
                  </a:lnTo>
                  <a:cubicBezTo>
                    <a:pt x="1319963" y="0"/>
                    <a:pt x="1325951" y="5988"/>
                    <a:pt x="1325951" y="13374"/>
                  </a:cubicBezTo>
                  <a:lnTo>
                    <a:pt x="1325951" y="788503"/>
                  </a:lnTo>
                  <a:cubicBezTo>
                    <a:pt x="1325951" y="795889"/>
                    <a:pt x="1319963" y="801876"/>
                    <a:pt x="1312577" y="801876"/>
                  </a:cubicBezTo>
                  <a:lnTo>
                    <a:pt x="13374" y="801876"/>
                  </a:lnTo>
                  <a:cubicBezTo>
                    <a:pt x="5988" y="801876"/>
                    <a:pt x="0" y="795889"/>
                    <a:pt x="0" y="788503"/>
                  </a:cubicBezTo>
                  <a:lnTo>
                    <a:pt x="0" y="13374"/>
                  </a:lnTo>
                  <a:cubicBezTo>
                    <a:pt x="0" y="5988"/>
                    <a:pt x="5988" y="0"/>
                    <a:pt x="13374" y="0"/>
                  </a:cubicBezTo>
                  <a:close/>
                </a:path>
              </a:pathLst>
            </a:custGeom>
            <a:solidFill>
              <a:srgbClr val="FFFFFF">
                <a:alpha val="19608"/>
              </a:srgbClr>
            </a:solidFill>
            <a:ln w="9525" cap="sq">
              <a:solidFill>
                <a:srgbClr val="9EB49F">
                  <a:alpha val="19608"/>
                </a:srgbClr>
              </a:solidFill>
              <a:prstDash val="solid"/>
              <a:miter/>
            </a:ln>
          </p:spPr>
        </p:sp>
        <p:sp>
          <p:nvSpPr>
            <p:cNvPr name="TextBox 9" id="9"/>
            <p:cNvSpPr txBox="true"/>
            <p:nvPr/>
          </p:nvSpPr>
          <p:spPr>
            <a:xfrm>
              <a:off x="0" y="-76200"/>
              <a:ext cx="1325951" cy="878076"/>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10" id="10"/>
          <p:cNvSpPr txBox="true"/>
          <p:nvPr/>
        </p:nvSpPr>
        <p:spPr>
          <a:xfrm rot="0">
            <a:off x="3397388" y="3232158"/>
            <a:ext cx="5052064" cy="447675"/>
          </a:xfrm>
          <a:prstGeom prst="rect">
            <a:avLst/>
          </a:prstGeom>
        </p:spPr>
        <p:txBody>
          <a:bodyPr anchor="t" rtlCol="false" tIns="0" lIns="0" bIns="0" rIns="0">
            <a:spAutoFit/>
          </a:bodyPr>
          <a:lstStyle/>
          <a:p>
            <a:pPr algn="ctr" marL="0" indent="0" lvl="0">
              <a:lnSpc>
                <a:spcPts val="3419"/>
              </a:lnSpc>
              <a:spcBef>
                <a:spcPct val="0"/>
              </a:spcBef>
            </a:pPr>
            <a:r>
              <a:rPr lang="en-US" b="true" sz="2849">
                <a:solidFill>
                  <a:srgbClr val="FFFFFF"/>
                </a:solidFill>
                <a:latin typeface="Work Sans Bold"/>
                <a:ea typeface="Work Sans Bold"/>
                <a:cs typeface="Work Sans Bold"/>
                <a:sym typeface="Work Sans Bold"/>
              </a:rPr>
              <a:t>Left-to-Right Replacement</a:t>
            </a:r>
          </a:p>
        </p:txBody>
      </p:sp>
      <p:sp>
        <p:nvSpPr>
          <p:cNvPr name="TextBox 11" id="11"/>
          <p:cNvSpPr txBox="true"/>
          <p:nvPr/>
        </p:nvSpPr>
        <p:spPr>
          <a:xfrm rot="0">
            <a:off x="9855520" y="3232158"/>
            <a:ext cx="5052064" cy="447675"/>
          </a:xfrm>
          <a:prstGeom prst="rect">
            <a:avLst/>
          </a:prstGeom>
        </p:spPr>
        <p:txBody>
          <a:bodyPr anchor="t" rtlCol="false" tIns="0" lIns="0" bIns="0" rIns="0">
            <a:spAutoFit/>
          </a:bodyPr>
          <a:lstStyle/>
          <a:p>
            <a:pPr algn="ctr" marL="0" indent="0" lvl="0">
              <a:lnSpc>
                <a:spcPts val="3419"/>
              </a:lnSpc>
              <a:spcBef>
                <a:spcPct val="0"/>
              </a:spcBef>
            </a:pPr>
            <a:r>
              <a:rPr lang="en-US" b="true" sz="2849">
                <a:solidFill>
                  <a:srgbClr val="FFFFFF"/>
                </a:solidFill>
                <a:latin typeface="Work Sans Bold"/>
                <a:ea typeface="Work Sans Bold"/>
                <a:cs typeface="Work Sans Bold"/>
                <a:sym typeface="Work Sans Bold"/>
              </a:rPr>
              <a:t>Right-to-Left Replacement</a:t>
            </a:r>
          </a:p>
        </p:txBody>
      </p:sp>
      <p:sp>
        <p:nvSpPr>
          <p:cNvPr name="TextBox 12" id="12"/>
          <p:cNvSpPr txBox="true"/>
          <p:nvPr/>
        </p:nvSpPr>
        <p:spPr>
          <a:xfrm rot="0">
            <a:off x="3399466" y="3956432"/>
            <a:ext cx="5052064" cy="1839510"/>
          </a:xfrm>
          <a:prstGeom prst="rect">
            <a:avLst/>
          </a:prstGeom>
        </p:spPr>
        <p:txBody>
          <a:bodyPr anchor="t" rtlCol="false" tIns="0" lIns="0" bIns="0" rIns="0">
            <a:spAutoFit/>
          </a:bodyPr>
          <a:lstStyle/>
          <a:p>
            <a:pPr algn="l">
              <a:lnSpc>
                <a:spcPts val="3702"/>
              </a:lnSpc>
            </a:pPr>
            <a:r>
              <a:rPr lang="en-US" sz="2644">
                <a:solidFill>
                  <a:srgbClr val="FFFFFF"/>
                </a:solidFill>
                <a:latin typeface="Work Sans"/>
                <a:ea typeface="Work Sans"/>
                <a:cs typeface="Work Sans"/>
                <a:sym typeface="Work Sans"/>
              </a:rPr>
              <a:t>Replacing an earlier value changes string length and can i</a:t>
            </a:r>
            <a:r>
              <a:rPr lang="en-US" sz="2644">
                <a:solidFill>
                  <a:srgbClr val="FFFFFF"/>
                </a:solidFill>
                <a:latin typeface="Work Sans"/>
                <a:ea typeface="Work Sans"/>
                <a:cs typeface="Work Sans"/>
                <a:sym typeface="Work Sans"/>
              </a:rPr>
              <a:t>nv</a:t>
            </a:r>
            <a:r>
              <a:rPr lang="en-US" sz="2644">
                <a:solidFill>
                  <a:srgbClr val="FFFFFF"/>
                </a:solidFill>
                <a:latin typeface="Work Sans"/>
                <a:ea typeface="Work Sans"/>
                <a:cs typeface="Work Sans"/>
                <a:sym typeface="Work Sans"/>
              </a:rPr>
              <a:t>alidate the character offsets of later findings.</a:t>
            </a:r>
          </a:p>
        </p:txBody>
      </p:sp>
      <p:sp>
        <p:nvSpPr>
          <p:cNvPr name="TextBox 13" id="13"/>
          <p:cNvSpPr txBox="true"/>
          <p:nvPr/>
        </p:nvSpPr>
        <p:spPr>
          <a:xfrm rot="0">
            <a:off x="9836470" y="4087861"/>
            <a:ext cx="5052064" cy="1839510"/>
          </a:xfrm>
          <a:prstGeom prst="rect">
            <a:avLst/>
          </a:prstGeom>
        </p:spPr>
        <p:txBody>
          <a:bodyPr anchor="t" rtlCol="false" tIns="0" lIns="0" bIns="0" rIns="0">
            <a:spAutoFit/>
          </a:bodyPr>
          <a:lstStyle/>
          <a:p>
            <a:pPr algn="l">
              <a:lnSpc>
                <a:spcPts val="3702"/>
              </a:lnSpc>
            </a:pPr>
            <a:r>
              <a:rPr lang="en-US" sz="2644">
                <a:solidFill>
                  <a:srgbClr val="FFFFFF"/>
                </a:solidFill>
                <a:latin typeface="Work Sans"/>
                <a:ea typeface="Work Sans"/>
                <a:cs typeface="Work Sans"/>
                <a:sym typeface="Work Sans"/>
              </a:rPr>
              <a:t>Sort findings within each segment by descending start_char and replace the rightmost match first.</a:t>
            </a:r>
          </a:p>
        </p:txBody>
      </p:sp>
      <p:grpSp>
        <p:nvGrpSpPr>
          <p:cNvPr name="Group 14" id="14"/>
          <p:cNvGrpSpPr/>
          <p:nvPr/>
        </p:nvGrpSpPr>
        <p:grpSpPr>
          <a:xfrm rot="0">
            <a:off x="1417739" y="6533860"/>
            <a:ext cx="15452521" cy="2724440"/>
            <a:chOff x="0" y="0"/>
            <a:chExt cx="4231470" cy="746052"/>
          </a:xfrm>
        </p:grpSpPr>
        <p:sp>
          <p:nvSpPr>
            <p:cNvPr name="Freeform 15" id="15"/>
            <p:cNvSpPr/>
            <p:nvPr/>
          </p:nvSpPr>
          <p:spPr>
            <a:xfrm flipH="false" flipV="false" rot="0">
              <a:off x="0" y="0"/>
              <a:ext cx="4231470" cy="746052"/>
            </a:xfrm>
            <a:custGeom>
              <a:avLst/>
              <a:gdLst/>
              <a:ahLst/>
              <a:cxnLst/>
              <a:rect r="r" b="b" t="t" l="l"/>
              <a:pathLst>
                <a:path h="746052" w="4231470">
                  <a:moveTo>
                    <a:pt x="5010" y="0"/>
                  </a:moveTo>
                  <a:lnTo>
                    <a:pt x="4226460" y="0"/>
                  </a:lnTo>
                  <a:cubicBezTo>
                    <a:pt x="4227789" y="0"/>
                    <a:pt x="4229064" y="528"/>
                    <a:pt x="4230003" y="1467"/>
                  </a:cubicBezTo>
                  <a:cubicBezTo>
                    <a:pt x="4230943" y="2407"/>
                    <a:pt x="4231470" y="3681"/>
                    <a:pt x="4231470" y="5010"/>
                  </a:cubicBezTo>
                  <a:lnTo>
                    <a:pt x="4231470" y="741042"/>
                  </a:lnTo>
                  <a:cubicBezTo>
                    <a:pt x="4231470" y="743809"/>
                    <a:pt x="4229227" y="746052"/>
                    <a:pt x="4226460" y="746052"/>
                  </a:cubicBezTo>
                  <a:lnTo>
                    <a:pt x="5010" y="746052"/>
                  </a:lnTo>
                  <a:cubicBezTo>
                    <a:pt x="3681" y="746052"/>
                    <a:pt x="2407" y="745524"/>
                    <a:pt x="1467" y="744585"/>
                  </a:cubicBezTo>
                  <a:cubicBezTo>
                    <a:pt x="528" y="743645"/>
                    <a:pt x="0" y="742371"/>
                    <a:pt x="0" y="741042"/>
                  </a:cubicBezTo>
                  <a:lnTo>
                    <a:pt x="0" y="5010"/>
                  </a:lnTo>
                  <a:cubicBezTo>
                    <a:pt x="0" y="3681"/>
                    <a:pt x="528" y="2407"/>
                    <a:pt x="1467" y="1467"/>
                  </a:cubicBezTo>
                  <a:cubicBezTo>
                    <a:pt x="2407" y="528"/>
                    <a:pt x="3681" y="0"/>
                    <a:pt x="5010" y="0"/>
                  </a:cubicBezTo>
                  <a:close/>
                </a:path>
              </a:pathLst>
            </a:custGeom>
            <a:solidFill>
              <a:srgbClr val="FFFFFF">
                <a:alpha val="29804"/>
              </a:srgbClr>
            </a:solidFill>
            <a:ln w="9525" cap="sq">
              <a:solidFill>
                <a:srgbClr val="9EB49F">
                  <a:alpha val="29804"/>
                </a:srgbClr>
              </a:solidFill>
              <a:prstDash val="solid"/>
              <a:miter/>
            </a:ln>
          </p:spPr>
        </p:sp>
        <p:sp>
          <p:nvSpPr>
            <p:cNvPr name="TextBox 16" id="16"/>
            <p:cNvSpPr txBox="true"/>
            <p:nvPr/>
          </p:nvSpPr>
          <p:spPr>
            <a:xfrm>
              <a:off x="0" y="-76200"/>
              <a:ext cx="4231470" cy="822252"/>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17" id="17"/>
          <p:cNvSpPr txBox="true"/>
          <p:nvPr/>
        </p:nvSpPr>
        <p:spPr>
          <a:xfrm rot="0">
            <a:off x="2071387" y="6856807"/>
            <a:ext cx="14197850" cy="571500"/>
          </a:xfrm>
          <a:prstGeom prst="rect">
            <a:avLst/>
          </a:prstGeom>
        </p:spPr>
        <p:txBody>
          <a:bodyPr anchor="t" rtlCol="false" tIns="0" lIns="0" bIns="0" rIns="0">
            <a:spAutoFit/>
          </a:bodyPr>
          <a:lstStyle/>
          <a:p>
            <a:pPr algn="ctr" marL="0" indent="0" lvl="0">
              <a:lnSpc>
                <a:spcPts val="4551"/>
              </a:lnSpc>
              <a:spcBef>
                <a:spcPct val="0"/>
              </a:spcBef>
            </a:pPr>
            <a:r>
              <a:rPr lang="en-US" b="true" sz="3793">
                <a:solidFill>
                  <a:srgbClr val="FFFFFF"/>
                </a:solidFill>
                <a:latin typeface="Work Sans Bold"/>
                <a:ea typeface="Work Sans Bold"/>
                <a:cs typeface="Work Sans Bold"/>
                <a:sym typeface="Work Sans Bold"/>
              </a:rPr>
              <a:t>Replacement formula</a:t>
            </a:r>
          </a:p>
        </p:txBody>
      </p:sp>
      <p:sp>
        <p:nvSpPr>
          <p:cNvPr name="TextBox 18" id="18"/>
          <p:cNvSpPr txBox="true"/>
          <p:nvPr/>
        </p:nvSpPr>
        <p:spPr>
          <a:xfrm rot="0">
            <a:off x="1782108" y="7695007"/>
            <a:ext cx="14776408" cy="748209"/>
          </a:xfrm>
          <a:prstGeom prst="rect">
            <a:avLst/>
          </a:prstGeom>
        </p:spPr>
        <p:txBody>
          <a:bodyPr anchor="t" rtlCol="false" tIns="0" lIns="0" bIns="0" rIns="0">
            <a:spAutoFit/>
          </a:bodyPr>
          <a:lstStyle/>
          <a:p>
            <a:pPr algn="ctr" marL="0" indent="0" lvl="0">
              <a:lnSpc>
                <a:spcPts val="6010"/>
              </a:lnSpc>
              <a:spcBef>
                <a:spcPct val="0"/>
              </a:spcBef>
            </a:pPr>
            <a:r>
              <a:rPr lang="en-US" sz="4292">
                <a:solidFill>
                  <a:srgbClr val="FFFFFF"/>
                </a:solidFill>
                <a:latin typeface="Work Sans"/>
                <a:ea typeface="Work Sans"/>
                <a:cs typeface="Work Sans"/>
                <a:sym typeface="Work Sans"/>
              </a:rPr>
              <a:t>T</a:t>
            </a:r>
            <a:r>
              <a:rPr lang="en-US" sz="4292">
                <a:solidFill>
                  <a:srgbClr val="FFFFFF"/>
                </a:solidFill>
                <a:latin typeface="Work Sans"/>
                <a:ea typeface="Work Sans"/>
                <a:cs typeface="Work Sans"/>
                <a:sym typeface="Work Sans"/>
              </a:rPr>
              <a:t>(i)</a:t>
            </a:r>
            <a:r>
              <a:rPr lang="en-US" sz="4292">
                <a:solidFill>
                  <a:srgbClr val="FFFFFF"/>
                </a:solidFill>
                <a:latin typeface="Work Sans"/>
                <a:ea typeface="Work Sans"/>
                <a:cs typeface="Work Sans"/>
                <a:sym typeface="Work Sans"/>
              </a:rPr>
              <a:t> = T</a:t>
            </a:r>
            <a:r>
              <a:rPr lang="en-US" sz="4292">
                <a:solidFill>
                  <a:srgbClr val="FFFFFF"/>
                </a:solidFill>
                <a:latin typeface="Work Sans"/>
                <a:ea typeface="Work Sans"/>
                <a:cs typeface="Work Sans"/>
                <a:sym typeface="Work Sans"/>
              </a:rPr>
              <a:t>(i-1)</a:t>
            </a:r>
            <a:r>
              <a:rPr lang="en-US" sz="4292">
                <a:solidFill>
                  <a:srgbClr val="FFFFFF"/>
                </a:solidFill>
                <a:latin typeface="Work Sans"/>
                <a:ea typeface="Work Sans"/>
                <a:cs typeface="Work Sans"/>
                <a:sym typeface="Work Sans"/>
              </a:rPr>
              <a:t> [0:s</a:t>
            </a:r>
            <a:r>
              <a:rPr lang="en-US" sz="4292">
                <a:solidFill>
                  <a:srgbClr val="FFFFFF"/>
                </a:solidFill>
                <a:latin typeface="Work Sans"/>
                <a:ea typeface="Work Sans"/>
                <a:cs typeface="Work Sans"/>
                <a:sym typeface="Work Sans"/>
              </a:rPr>
              <a:t>i</a:t>
            </a:r>
            <a:r>
              <a:rPr lang="en-US" sz="4292">
                <a:solidFill>
                  <a:srgbClr val="FFFFFF"/>
                </a:solidFill>
                <a:latin typeface="Work Sans"/>
                <a:ea typeface="Work Sans"/>
                <a:cs typeface="Work Sans"/>
                <a:sym typeface="Work Sans"/>
              </a:rPr>
              <a:t>] + tag</a:t>
            </a:r>
            <a:r>
              <a:rPr lang="en-US" sz="4292">
                <a:solidFill>
                  <a:srgbClr val="FFFFFF"/>
                </a:solidFill>
                <a:latin typeface="Work Sans"/>
                <a:ea typeface="Work Sans"/>
                <a:cs typeface="Work Sans"/>
                <a:sym typeface="Work Sans"/>
              </a:rPr>
              <a:t>i</a:t>
            </a:r>
            <a:r>
              <a:rPr lang="en-US" sz="4292">
                <a:solidFill>
                  <a:srgbClr val="FFFFFF"/>
                </a:solidFill>
                <a:latin typeface="Work Sans"/>
                <a:ea typeface="Work Sans"/>
                <a:cs typeface="Work Sans"/>
                <a:sym typeface="Work Sans"/>
              </a:rPr>
              <a:t> + T</a:t>
            </a:r>
            <a:r>
              <a:rPr lang="en-US" sz="4292">
                <a:solidFill>
                  <a:srgbClr val="FFFFFF"/>
                </a:solidFill>
                <a:latin typeface="Work Sans"/>
                <a:ea typeface="Work Sans"/>
                <a:cs typeface="Work Sans"/>
                <a:sym typeface="Work Sans"/>
              </a:rPr>
              <a:t>(i-1)</a:t>
            </a:r>
            <a:r>
              <a:rPr lang="en-US" sz="4292">
                <a:solidFill>
                  <a:srgbClr val="FFFFFF"/>
                </a:solidFill>
                <a:latin typeface="Work Sans"/>
                <a:ea typeface="Work Sans"/>
                <a:cs typeface="Work Sans"/>
                <a:sym typeface="Work Sans"/>
              </a:rPr>
              <a:t>[e</a:t>
            </a:r>
            <a:r>
              <a:rPr lang="en-US" sz="4292">
                <a:solidFill>
                  <a:srgbClr val="FFFFFF"/>
                </a:solidFill>
                <a:latin typeface="Work Sans"/>
                <a:ea typeface="Work Sans"/>
                <a:cs typeface="Work Sans"/>
                <a:sym typeface="Work Sans"/>
              </a:rPr>
              <a:t>i</a:t>
            </a:r>
            <a:r>
              <a:rPr lang="en-US" sz="4292">
                <a:solidFill>
                  <a:srgbClr val="FFFFFF"/>
                </a:solidFill>
                <a:latin typeface="Work Sans"/>
                <a:ea typeface="Work Sans"/>
                <a:cs typeface="Work Sans"/>
                <a:sym typeface="Work Sans"/>
              </a:rPr>
              <a:t>:L]</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070908">
                <a:alpha val="100000"/>
              </a:srgbClr>
            </a:gs>
            <a:gs pos="33333">
              <a:srgbClr val="29464A">
                <a:alpha val="100000"/>
              </a:srgbClr>
            </a:gs>
            <a:gs pos="66667">
              <a:srgbClr val="6D8080">
                <a:alpha val="100000"/>
              </a:srgbClr>
            </a:gs>
            <a:gs pos="100000">
              <a:srgbClr val="B9C8B6">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691283"/>
            <a:ext cx="16230600" cy="1811019"/>
          </a:xfrm>
          <a:prstGeom prst="rect">
            <a:avLst/>
          </a:prstGeom>
        </p:spPr>
        <p:txBody>
          <a:bodyPr anchor="t" rtlCol="false" tIns="0" lIns="0" bIns="0" rIns="0">
            <a:spAutoFit/>
          </a:bodyPr>
          <a:lstStyle/>
          <a:p>
            <a:pPr algn="l" marL="0" indent="0" lvl="0">
              <a:lnSpc>
                <a:spcPts val="7280"/>
              </a:lnSpc>
              <a:spcBef>
                <a:spcPct val="0"/>
              </a:spcBef>
            </a:pPr>
            <a:r>
              <a:rPr lang="en-US" sz="5200">
                <a:solidFill>
                  <a:srgbClr val="FFFFFF"/>
                </a:solidFill>
                <a:latin typeface="Glock Grotesk"/>
                <a:ea typeface="Glock Grotesk"/>
                <a:cs typeface="Glock Grotesk"/>
                <a:sym typeface="Glock Grotesk"/>
              </a:rPr>
              <a:t>Aud</a:t>
            </a:r>
            <a:r>
              <a:rPr lang="en-US" b="true" sz="5200" strike="noStrike" u="none">
                <a:solidFill>
                  <a:srgbClr val="FFFFFF"/>
                </a:solidFill>
                <a:latin typeface="Glock Grotesk"/>
                <a:ea typeface="Glock Grotesk"/>
                <a:cs typeface="Glock Grotesk"/>
                <a:sym typeface="Glock Grotesk"/>
              </a:rPr>
              <a:t>i</a:t>
            </a:r>
            <a:r>
              <a:rPr lang="en-US" b="true" sz="5200" strike="noStrike" u="none">
                <a:solidFill>
                  <a:srgbClr val="FFFFFF"/>
                </a:solidFill>
                <a:latin typeface="Glock Grotesk"/>
                <a:ea typeface="Glock Grotesk"/>
                <a:cs typeface="Glock Grotesk"/>
                <a:sym typeface="Glock Grotesk"/>
              </a:rPr>
              <a:t>t Tr</a:t>
            </a:r>
            <a:r>
              <a:rPr lang="en-US" b="true" sz="5200" strike="noStrike" u="none">
                <a:solidFill>
                  <a:srgbClr val="FFFFFF"/>
                </a:solidFill>
                <a:latin typeface="Glock Grotesk"/>
                <a:ea typeface="Glock Grotesk"/>
                <a:cs typeface="Glock Grotesk"/>
                <a:sym typeface="Glock Grotesk"/>
              </a:rPr>
              <a:t>ails, Compliance Sign-Off &amp; QA Validation Metrics</a:t>
            </a:r>
          </a:p>
        </p:txBody>
      </p:sp>
      <p:grpSp>
        <p:nvGrpSpPr>
          <p:cNvPr name="Group 3" id="3"/>
          <p:cNvGrpSpPr/>
          <p:nvPr/>
        </p:nvGrpSpPr>
        <p:grpSpPr>
          <a:xfrm rot="0">
            <a:off x="1028700" y="2759477"/>
            <a:ext cx="5034470" cy="3615489"/>
            <a:chOff x="0" y="0"/>
            <a:chExt cx="1325951" cy="952228"/>
          </a:xfrm>
        </p:grpSpPr>
        <p:sp>
          <p:nvSpPr>
            <p:cNvPr name="Freeform 4" id="4"/>
            <p:cNvSpPr/>
            <p:nvPr/>
          </p:nvSpPr>
          <p:spPr>
            <a:xfrm flipH="false" flipV="false" rot="0">
              <a:off x="0" y="0"/>
              <a:ext cx="1325951" cy="952228"/>
            </a:xfrm>
            <a:custGeom>
              <a:avLst/>
              <a:gdLst/>
              <a:ahLst/>
              <a:cxnLst/>
              <a:rect r="r" b="b" t="t" l="l"/>
              <a:pathLst>
                <a:path h="952228" w="1325951">
                  <a:moveTo>
                    <a:pt x="15378" y="0"/>
                  </a:moveTo>
                  <a:lnTo>
                    <a:pt x="1310573" y="0"/>
                  </a:lnTo>
                  <a:cubicBezTo>
                    <a:pt x="1319066" y="0"/>
                    <a:pt x="1325951" y="6885"/>
                    <a:pt x="1325951" y="15378"/>
                  </a:cubicBezTo>
                  <a:lnTo>
                    <a:pt x="1325951" y="936850"/>
                  </a:lnTo>
                  <a:cubicBezTo>
                    <a:pt x="1325951" y="945343"/>
                    <a:pt x="1319066" y="952228"/>
                    <a:pt x="1310573" y="952228"/>
                  </a:cubicBezTo>
                  <a:lnTo>
                    <a:pt x="15378" y="952228"/>
                  </a:lnTo>
                  <a:cubicBezTo>
                    <a:pt x="6885" y="952228"/>
                    <a:pt x="0" y="945343"/>
                    <a:pt x="0" y="936850"/>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5" id="5"/>
            <p:cNvSpPr txBox="true"/>
            <p:nvPr/>
          </p:nvSpPr>
          <p:spPr>
            <a:xfrm>
              <a:off x="0" y="-76200"/>
              <a:ext cx="1325951" cy="1028428"/>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6" id="6"/>
          <p:cNvGrpSpPr/>
          <p:nvPr/>
        </p:nvGrpSpPr>
        <p:grpSpPr>
          <a:xfrm rot="0">
            <a:off x="6626765" y="2759477"/>
            <a:ext cx="5034470" cy="3615489"/>
            <a:chOff x="0" y="0"/>
            <a:chExt cx="1325951" cy="952228"/>
          </a:xfrm>
        </p:grpSpPr>
        <p:sp>
          <p:nvSpPr>
            <p:cNvPr name="Freeform 7" id="7"/>
            <p:cNvSpPr/>
            <p:nvPr/>
          </p:nvSpPr>
          <p:spPr>
            <a:xfrm flipH="false" flipV="false" rot="0">
              <a:off x="0" y="0"/>
              <a:ext cx="1325951" cy="952228"/>
            </a:xfrm>
            <a:custGeom>
              <a:avLst/>
              <a:gdLst/>
              <a:ahLst/>
              <a:cxnLst/>
              <a:rect r="r" b="b" t="t" l="l"/>
              <a:pathLst>
                <a:path h="952228" w="1325951">
                  <a:moveTo>
                    <a:pt x="15378" y="0"/>
                  </a:moveTo>
                  <a:lnTo>
                    <a:pt x="1310573" y="0"/>
                  </a:lnTo>
                  <a:cubicBezTo>
                    <a:pt x="1319066" y="0"/>
                    <a:pt x="1325951" y="6885"/>
                    <a:pt x="1325951" y="15378"/>
                  </a:cubicBezTo>
                  <a:lnTo>
                    <a:pt x="1325951" y="936850"/>
                  </a:lnTo>
                  <a:cubicBezTo>
                    <a:pt x="1325951" y="945343"/>
                    <a:pt x="1319066" y="952228"/>
                    <a:pt x="1310573" y="952228"/>
                  </a:cubicBezTo>
                  <a:lnTo>
                    <a:pt x="15378" y="952228"/>
                  </a:lnTo>
                  <a:cubicBezTo>
                    <a:pt x="6885" y="952228"/>
                    <a:pt x="0" y="945343"/>
                    <a:pt x="0" y="936850"/>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8" id="8"/>
            <p:cNvSpPr txBox="true"/>
            <p:nvPr/>
          </p:nvSpPr>
          <p:spPr>
            <a:xfrm>
              <a:off x="0" y="-76200"/>
              <a:ext cx="1325951" cy="1028428"/>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9" id="9"/>
          <p:cNvGrpSpPr/>
          <p:nvPr/>
        </p:nvGrpSpPr>
        <p:grpSpPr>
          <a:xfrm rot="0">
            <a:off x="12224830" y="2759477"/>
            <a:ext cx="5034470" cy="3615489"/>
            <a:chOff x="0" y="0"/>
            <a:chExt cx="1325951" cy="952228"/>
          </a:xfrm>
        </p:grpSpPr>
        <p:sp>
          <p:nvSpPr>
            <p:cNvPr name="Freeform 10" id="10"/>
            <p:cNvSpPr/>
            <p:nvPr/>
          </p:nvSpPr>
          <p:spPr>
            <a:xfrm flipH="false" flipV="false" rot="0">
              <a:off x="0" y="0"/>
              <a:ext cx="1325951" cy="952228"/>
            </a:xfrm>
            <a:custGeom>
              <a:avLst/>
              <a:gdLst/>
              <a:ahLst/>
              <a:cxnLst/>
              <a:rect r="r" b="b" t="t" l="l"/>
              <a:pathLst>
                <a:path h="952228" w="1325951">
                  <a:moveTo>
                    <a:pt x="15378" y="0"/>
                  </a:moveTo>
                  <a:lnTo>
                    <a:pt x="1310573" y="0"/>
                  </a:lnTo>
                  <a:cubicBezTo>
                    <a:pt x="1319066" y="0"/>
                    <a:pt x="1325951" y="6885"/>
                    <a:pt x="1325951" y="15378"/>
                  </a:cubicBezTo>
                  <a:lnTo>
                    <a:pt x="1325951" y="936850"/>
                  </a:lnTo>
                  <a:cubicBezTo>
                    <a:pt x="1325951" y="945343"/>
                    <a:pt x="1319066" y="952228"/>
                    <a:pt x="1310573" y="952228"/>
                  </a:cubicBezTo>
                  <a:lnTo>
                    <a:pt x="15378" y="952228"/>
                  </a:lnTo>
                  <a:cubicBezTo>
                    <a:pt x="6885" y="952228"/>
                    <a:pt x="0" y="945343"/>
                    <a:pt x="0" y="936850"/>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11" id="11"/>
            <p:cNvSpPr txBox="true"/>
            <p:nvPr/>
          </p:nvSpPr>
          <p:spPr>
            <a:xfrm>
              <a:off x="0" y="-76200"/>
              <a:ext cx="1325951" cy="1028428"/>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12" id="12"/>
          <p:cNvSpPr txBox="true"/>
          <p:nvPr/>
        </p:nvSpPr>
        <p:spPr>
          <a:xfrm rot="0">
            <a:off x="1347316"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Findings CSV</a:t>
            </a:r>
          </a:p>
        </p:txBody>
      </p:sp>
      <p:sp>
        <p:nvSpPr>
          <p:cNvPr name="TextBox 13" id="13"/>
          <p:cNvSpPr txBox="true"/>
          <p:nvPr/>
        </p:nvSpPr>
        <p:spPr>
          <a:xfrm rot="0">
            <a:off x="6885680"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Compliance Certificate</a:t>
            </a:r>
          </a:p>
        </p:txBody>
      </p:sp>
      <p:sp>
        <p:nvSpPr>
          <p:cNvPr name="TextBox 14" id="14"/>
          <p:cNvSpPr txBox="true"/>
          <p:nvPr/>
        </p:nvSpPr>
        <p:spPr>
          <a:xfrm rot="0">
            <a:off x="12545253"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QA Log</a:t>
            </a:r>
          </a:p>
        </p:txBody>
      </p:sp>
      <p:sp>
        <p:nvSpPr>
          <p:cNvPr name="TextBox 15" id="15"/>
          <p:cNvSpPr txBox="true"/>
          <p:nvPr/>
        </p:nvSpPr>
        <p:spPr>
          <a:xfrm rot="0">
            <a:off x="1349123" y="3975936"/>
            <a:ext cx="4393625" cy="239903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Work Sans"/>
                <a:ea typeface="Work Sans"/>
                <a:cs typeface="Work Sans"/>
                <a:sym typeface="Work Sans"/>
              </a:rPr>
              <a:t>Records source files, locations, entity types, detected values and character offsets.</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findings.csv</a:t>
            </a:r>
          </a:p>
          <a:p>
            <a:pPr algn="l" marL="0" indent="0" lvl="0">
              <a:lnSpc>
                <a:spcPts val="3220"/>
              </a:lnSpc>
              <a:spcBef>
                <a:spcPct val="0"/>
              </a:spcBef>
            </a:pPr>
          </a:p>
        </p:txBody>
      </p:sp>
      <p:sp>
        <p:nvSpPr>
          <p:cNvPr name="TextBox 16" id="16"/>
          <p:cNvSpPr txBox="true"/>
          <p:nvPr/>
        </p:nvSpPr>
        <p:spPr>
          <a:xfrm rot="0">
            <a:off x="6947188" y="3975936"/>
            <a:ext cx="4232510" cy="2307192"/>
          </a:xfrm>
          <a:prstGeom prst="rect">
            <a:avLst/>
          </a:prstGeom>
        </p:spPr>
        <p:txBody>
          <a:bodyPr anchor="t" rtlCol="false" tIns="0" lIns="0" bIns="0" rIns="0">
            <a:spAutoFit/>
          </a:bodyPr>
          <a:lstStyle/>
          <a:p>
            <a:pPr algn="l" marL="478360" indent="-239180" lvl="1">
              <a:lnSpc>
                <a:spcPts val="3101"/>
              </a:lnSpc>
              <a:buFont typeface="Arial"/>
              <a:buChar char="•"/>
            </a:pPr>
            <a:r>
              <a:rPr lang="en-US" sz="2215">
                <a:solidFill>
                  <a:srgbClr val="FFFFFF"/>
                </a:solidFill>
                <a:latin typeface="Work Sans"/>
                <a:ea typeface="Work Sans"/>
                <a:cs typeface="Work Sans"/>
                <a:sym typeface="Work Sans"/>
              </a:rPr>
              <a:t>Can record execution status, segment counts, redaction totals and timestamps for sign-off.</a:t>
            </a:r>
          </a:p>
          <a:p>
            <a:pPr algn="l" marL="456771" indent="-228385" lvl="1">
              <a:lnSpc>
                <a:spcPts val="2961"/>
              </a:lnSpc>
              <a:buFont typeface="Arial"/>
              <a:buChar char="•"/>
            </a:pPr>
            <a:r>
              <a:rPr lang="en-US" sz="2115">
                <a:solidFill>
                  <a:srgbClr val="FFFFFF"/>
                </a:solidFill>
                <a:latin typeface="Work Sans"/>
                <a:ea typeface="Work Sans"/>
                <a:cs typeface="Work Sans"/>
                <a:sym typeface="Work Sans"/>
              </a:rPr>
              <a:t>compliance_certificate.json</a:t>
            </a:r>
          </a:p>
          <a:p>
            <a:pPr algn="l" marL="0" indent="0" lvl="0">
              <a:lnSpc>
                <a:spcPts val="2961"/>
              </a:lnSpc>
              <a:spcBef>
                <a:spcPct val="0"/>
              </a:spcBef>
            </a:pPr>
          </a:p>
        </p:txBody>
      </p:sp>
      <p:sp>
        <p:nvSpPr>
          <p:cNvPr name="TextBox 17" id="17"/>
          <p:cNvSpPr txBox="true"/>
          <p:nvPr/>
        </p:nvSpPr>
        <p:spPr>
          <a:xfrm rot="0">
            <a:off x="12547060" y="3985461"/>
            <a:ext cx="4393625" cy="2223135"/>
          </a:xfrm>
          <a:prstGeom prst="rect">
            <a:avLst/>
          </a:prstGeom>
        </p:spPr>
        <p:txBody>
          <a:bodyPr anchor="t" rtlCol="false" tIns="0" lIns="0" bIns="0" rIns="0">
            <a:spAutoFit/>
          </a:bodyPr>
          <a:lstStyle/>
          <a:p>
            <a:pPr algn="l" marL="453392" indent="-226696" lvl="1">
              <a:lnSpc>
                <a:spcPts val="2940"/>
              </a:lnSpc>
              <a:buFont typeface="Arial"/>
              <a:buChar char="•"/>
            </a:pPr>
            <a:r>
              <a:rPr lang="en-US" sz="2100">
                <a:solidFill>
                  <a:srgbClr val="FFFFFF"/>
                </a:solidFill>
                <a:latin typeface="Work Sans"/>
                <a:ea typeface="Work Sans"/>
                <a:cs typeface="Work Sans"/>
                <a:sym typeface="Work Sans"/>
              </a:rPr>
              <a:t>Tracks verification results and errors, including false positives and false negatives where measured.</a:t>
            </a:r>
          </a:p>
          <a:p>
            <a:pPr algn="l" marL="453392" indent="-226696" lvl="1">
              <a:lnSpc>
                <a:spcPts val="2940"/>
              </a:lnSpc>
              <a:buFont typeface="Arial"/>
              <a:buChar char="•"/>
            </a:pPr>
            <a:r>
              <a:rPr lang="en-US" sz="2100">
                <a:solidFill>
                  <a:srgbClr val="FFFFFF"/>
                </a:solidFill>
                <a:latin typeface="Work Sans"/>
                <a:ea typeface="Work Sans"/>
                <a:cs typeface="Work Sans"/>
                <a:sym typeface="Work Sans"/>
              </a:rPr>
              <a:t>qa_log.csv</a:t>
            </a:r>
          </a:p>
          <a:p>
            <a:pPr algn="l" marL="0" indent="0" lvl="0">
              <a:lnSpc>
                <a:spcPts val="2940"/>
              </a:lnSpc>
              <a:spcBef>
                <a:spcPct val="0"/>
              </a:spcBef>
            </a:pPr>
          </a:p>
        </p:txBody>
      </p:sp>
      <p:grpSp>
        <p:nvGrpSpPr>
          <p:cNvPr name="Group 18" id="18"/>
          <p:cNvGrpSpPr/>
          <p:nvPr/>
        </p:nvGrpSpPr>
        <p:grpSpPr>
          <a:xfrm rot="0">
            <a:off x="1028700" y="6832166"/>
            <a:ext cx="7685135" cy="2088676"/>
            <a:chOff x="0" y="0"/>
            <a:chExt cx="5900895" cy="1603753"/>
          </a:xfrm>
        </p:grpSpPr>
        <p:sp>
          <p:nvSpPr>
            <p:cNvPr name="Freeform 19" id="19"/>
            <p:cNvSpPr/>
            <p:nvPr/>
          </p:nvSpPr>
          <p:spPr>
            <a:xfrm flipH="false" flipV="false" rot="0">
              <a:off x="0" y="0"/>
              <a:ext cx="5900895" cy="1603753"/>
            </a:xfrm>
            <a:custGeom>
              <a:avLst/>
              <a:gdLst/>
              <a:ahLst/>
              <a:cxnLst/>
              <a:rect r="r" b="b" t="t" l="l"/>
              <a:pathLst>
                <a:path h="1603753" w="5900895">
                  <a:moveTo>
                    <a:pt x="10074" y="0"/>
                  </a:moveTo>
                  <a:lnTo>
                    <a:pt x="5890821" y="0"/>
                  </a:lnTo>
                  <a:cubicBezTo>
                    <a:pt x="5896385" y="0"/>
                    <a:pt x="5900895" y="4510"/>
                    <a:pt x="5900895" y="10074"/>
                  </a:cubicBezTo>
                  <a:lnTo>
                    <a:pt x="5900895" y="1593679"/>
                  </a:lnTo>
                  <a:cubicBezTo>
                    <a:pt x="5900895" y="1599242"/>
                    <a:pt x="5896385" y="1603753"/>
                    <a:pt x="5890821" y="1603753"/>
                  </a:cubicBezTo>
                  <a:lnTo>
                    <a:pt x="10074" y="1603753"/>
                  </a:lnTo>
                  <a:cubicBezTo>
                    <a:pt x="4510" y="1603753"/>
                    <a:pt x="0" y="1599242"/>
                    <a:pt x="0" y="1593679"/>
                  </a:cubicBezTo>
                  <a:lnTo>
                    <a:pt x="0" y="10074"/>
                  </a:lnTo>
                  <a:cubicBezTo>
                    <a:pt x="0" y="4510"/>
                    <a:pt x="4510" y="0"/>
                    <a:pt x="10074" y="0"/>
                  </a:cubicBezTo>
                  <a:close/>
                </a:path>
              </a:pathLst>
            </a:custGeom>
            <a:solidFill>
              <a:srgbClr val="FFFFFF">
                <a:alpha val="19608"/>
              </a:srgbClr>
            </a:solidFill>
            <a:ln w="9525" cap="sq">
              <a:solidFill>
                <a:srgbClr val="9EB49F">
                  <a:alpha val="19608"/>
                </a:srgbClr>
              </a:solidFill>
              <a:prstDash val="solid"/>
              <a:miter/>
            </a:ln>
          </p:spPr>
        </p:sp>
        <p:sp>
          <p:nvSpPr>
            <p:cNvPr name="TextBox 20" id="20"/>
            <p:cNvSpPr txBox="true"/>
            <p:nvPr/>
          </p:nvSpPr>
          <p:spPr>
            <a:xfrm>
              <a:off x="0" y="-76200"/>
              <a:ext cx="5900895" cy="1679953"/>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21" id="21"/>
          <p:cNvGrpSpPr/>
          <p:nvPr/>
        </p:nvGrpSpPr>
        <p:grpSpPr>
          <a:xfrm rot="0">
            <a:off x="9574165" y="6832166"/>
            <a:ext cx="7685135" cy="2088676"/>
            <a:chOff x="0" y="0"/>
            <a:chExt cx="5900895" cy="1603753"/>
          </a:xfrm>
        </p:grpSpPr>
        <p:sp>
          <p:nvSpPr>
            <p:cNvPr name="Freeform 22" id="22"/>
            <p:cNvSpPr/>
            <p:nvPr/>
          </p:nvSpPr>
          <p:spPr>
            <a:xfrm flipH="false" flipV="false" rot="0">
              <a:off x="0" y="0"/>
              <a:ext cx="5900895" cy="1603753"/>
            </a:xfrm>
            <a:custGeom>
              <a:avLst/>
              <a:gdLst/>
              <a:ahLst/>
              <a:cxnLst/>
              <a:rect r="r" b="b" t="t" l="l"/>
              <a:pathLst>
                <a:path h="1603753" w="5900895">
                  <a:moveTo>
                    <a:pt x="10074" y="0"/>
                  </a:moveTo>
                  <a:lnTo>
                    <a:pt x="5890821" y="0"/>
                  </a:lnTo>
                  <a:cubicBezTo>
                    <a:pt x="5896385" y="0"/>
                    <a:pt x="5900895" y="4510"/>
                    <a:pt x="5900895" y="10074"/>
                  </a:cubicBezTo>
                  <a:lnTo>
                    <a:pt x="5900895" y="1593679"/>
                  </a:lnTo>
                  <a:cubicBezTo>
                    <a:pt x="5900895" y="1599242"/>
                    <a:pt x="5896385" y="1603753"/>
                    <a:pt x="5890821" y="1603753"/>
                  </a:cubicBezTo>
                  <a:lnTo>
                    <a:pt x="10074" y="1603753"/>
                  </a:lnTo>
                  <a:cubicBezTo>
                    <a:pt x="4510" y="1603753"/>
                    <a:pt x="0" y="1599242"/>
                    <a:pt x="0" y="1593679"/>
                  </a:cubicBezTo>
                  <a:lnTo>
                    <a:pt x="0" y="10074"/>
                  </a:lnTo>
                  <a:cubicBezTo>
                    <a:pt x="0" y="4510"/>
                    <a:pt x="4510" y="0"/>
                    <a:pt x="10074" y="0"/>
                  </a:cubicBezTo>
                  <a:close/>
                </a:path>
              </a:pathLst>
            </a:custGeom>
            <a:solidFill>
              <a:srgbClr val="FFFFFF">
                <a:alpha val="19608"/>
              </a:srgbClr>
            </a:solidFill>
            <a:ln w="9525" cap="sq">
              <a:solidFill>
                <a:srgbClr val="9EB49F">
                  <a:alpha val="19608"/>
                </a:srgbClr>
              </a:solidFill>
              <a:prstDash val="solid"/>
              <a:miter/>
            </a:ln>
          </p:spPr>
        </p:sp>
        <p:sp>
          <p:nvSpPr>
            <p:cNvPr name="TextBox 23" id="23"/>
            <p:cNvSpPr txBox="true"/>
            <p:nvPr/>
          </p:nvSpPr>
          <p:spPr>
            <a:xfrm>
              <a:off x="0" y="-76200"/>
              <a:ext cx="5900895" cy="1679953"/>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24" id="24"/>
          <p:cNvSpPr txBox="true"/>
          <p:nvPr/>
        </p:nvSpPr>
        <p:spPr>
          <a:xfrm rot="0">
            <a:off x="1515068" y="6980509"/>
            <a:ext cx="6706883" cy="485775"/>
          </a:xfrm>
          <a:prstGeom prst="rect">
            <a:avLst/>
          </a:prstGeom>
        </p:spPr>
        <p:txBody>
          <a:bodyPr anchor="t" rtlCol="false" tIns="0" lIns="0" bIns="0" rIns="0">
            <a:spAutoFit/>
          </a:bodyPr>
          <a:lstStyle/>
          <a:p>
            <a:pPr algn="ctr" marL="0" indent="0" lvl="0">
              <a:lnSpc>
                <a:spcPts val="3719"/>
              </a:lnSpc>
              <a:spcBef>
                <a:spcPct val="0"/>
              </a:spcBef>
            </a:pPr>
            <a:r>
              <a:rPr lang="en-US" b="true" sz="3099">
                <a:solidFill>
                  <a:srgbClr val="FFFFFF"/>
                </a:solidFill>
                <a:latin typeface="Work Sans Bold"/>
                <a:ea typeface="Work Sans Bold"/>
                <a:cs typeface="Work Sans Bold"/>
                <a:sym typeface="Work Sans Bold"/>
              </a:rPr>
              <a:t>Precision</a:t>
            </a:r>
          </a:p>
        </p:txBody>
      </p:sp>
      <p:sp>
        <p:nvSpPr>
          <p:cNvPr name="TextBox 25" id="25"/>
          <p:cNvSpPr txBox="true"/>
          <p:nvPr/>
        </p:nvSpPr>
        <p:spPr>
          <a:xfrm rot="0">
            <a:off x="9817349" y="6980509"/>
            <a:ext cx="6706883" cy="485775"/>
          </a:xfrm>
          <a:prstGeom prst="rect">
            <a:avLst/>
          </a:prstGeom>
        </p:spPr>
        <p:txBody>
          <a:bodyPr anchor="t" rtlCol="false" tIns="0" lIns="0" bIns="0" rIns="0">
            <a:spAutoFit/>
          </a:bodyPr>
          <a:lstStyle/>
          <a:p>
            <a:pPr algn="ctr" marL="0" indent="0" lvl="0">
              <a:lnSpc>
                <a:spcPts val="3719"/>
              </a:lnSpc>
              <a:spcBef>
                <a:spcPct val="0"/>
              </a:spcBef>
            </a:pPr>
            <a:r>
              <a:rPr lang="en-US" b="true" sz="3099">
                <a:solidFill>
                  <a:srgbClr val="FFFFFF"/>
                </a:solidFill>
                <a:latin typeface="Work Sans Bold"/>
                <a:ea typeface="Work Sans Bold"/>
                <a:cs typeface="Work Sans Bold"/>
                <a:sym typeface="Work Sans Bold"/>
              </a:rPr>
              <a:t>Recall</a:t>
            </a:r>
          </a:p>
        </p:txBody>
      </p:sp>
      <p:sp>
        <p:nvSpPr>
          <p:cNvPr name="TextBox 26" id="26"/>
          <p:cNvSpPr txBox="true"/>
          <p:nvPr/>
        </p:nvSpPr>
        <p:spPr>
          <a:xfrm rot="0">
            <a:off x="1515068" y="7495845"/>
            <a:ext cx="6706883" cy="1005205"/>
          </a:xfrm>
          <a:prstGeom prst="rect">
            <a:avLst/>
          </a:prstGeom>
        </p:spPr>
        <p:txBody>
          <a:bodyPr anchor="t" rtlCol="false" tIns="0" lIns="0" bIns="0" rIns="0">
            <a:spAutoFit/>
          </a:bodyPr>
          <a:lstStyle/>
          <a:p>
            <a:pPr algn="ctr">
              <a:lnSpc>
                <a:spcPts val="5039"/>
              </a:lnSpc>
            </a:pPr>
            <a:r>
              <a:rPr lang="en-US" sz="3599">
                <a:solidFill>
                  <a:srgbClr val="FFFFFF"/>
                </a:solidFill>
                <a:latin typeface="Work Sans"/>
                <a:ea typeface="Work Sans"/>
                <a:cs typeface="Work Sans"/>
                <a:sym typeface="Work Sans"/>
              </a:rPr>
              <a:t>TP / (TP + FP) * 100</a:t>
            </a:r>
          </a:p>
          <a:p>
            <a:pPr algn="ctr" marL="0" indent="0" lvl="0">
              <a:lnSpc>
                <a:spcPts val="2800"/>
              </a:lnSpc>
              <a:spcBef>
                <a:spcPct val="0"/>
              </a:spcBef>
            </a:pPr>
            <a:r>
              <a:rPr lang="en-US" sz="2000">
                <a:solidFill>
                  <a:srgbClr val="FFFFFF"/>
                </a:solidFill>
                <a:latin typeface="Work Sans"/>
                <a:ea typeface="Work Sans"/>
                <a:cs typeface="Work Sans"/>
                <a:sym typeface="Work Sans"/>
              </a:rPr>
              <a:t>Of all detected PII findings, how many were correct?</a:t>
            </a:r>
          </a:p>
        </p:txBody>
      </p:sp>
      <p:sp>
        <p:nvSpPr>
          <p:cNvPr name="TextBox 27" id="27"/>
          <p:cNvSpPr txBox="true"/>
          <p:nvPr/>
        </p:nvSpPr>
        <p:spPr>
          <a:xfrm rot="0">
            <a:off x="10063291" y="7505370"/>
            <a:ext cx="6706883" cy="1005205"/>
          </a:xfrm>
          <a:prstGeom prst="rect">
            <a:avLst/>
          </a:prstGeom>
        </p:spPr>
        <p:txBody>
          <a:bodyPr anchor="t" rtlCol="false" tIns="0" lIns="0" bIns="0" rIns="0">
            <a:spAutoFit/>
          </a:bodyPr>
          <a:lstStyle/>
          <a:p>
            <a:pPr algn="ctr">
              <a:lnSpc>
                <a:spcPts val="5039"/>
              </a:lnSpc>
            </a:pPr>
            <a:r>
              <a:rPr lang="en-US" sz="3599">
                <a:solidFill>
                  <a:srgbClr val="FFFFFF"/>
                </a:solidFill>
                <a:latin typeface="Work Sans"/>
                <a:ea typeface="Work Sans"/>
                <a:cs typeface="Work Sans"/>
                <a:sym typeface="Work Sans"/>
              </a:rPr>
              <a:t>TP / (TP + FN) * 100</a:t>
            </a:r>
          </a:p>
          <a:p>
            <a:pPr algn="ctr" marL="0" indent="0" lvl="0">
              <a:lnSpc>
                <a:spcPts val="2800"/>
              </a:lnSpc>
              <a:spcBef>
                <a:spcPct val="0"/>
              </a:spcBef>
            </a:pPr>
            <a:r>
              <a:rPr lang="en-US" sz="2000">
                <a:solidFill>
                  <a:srgbClr val="FFFFFF"/>
                </a:solidFill>
                <a:latin typeface="Work Sans"/>
                <a:ea typeface="Work Sans"/>
                <a:cs typeface="Work Sans"/>
                <a:sym typeface="Work Sans"/>
              </a:rPr>
              <a:t>Of all actual PII instances, how many were detected?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0860551" y="4732669"/>
            <a:ext cx="7744260" cy="7110638"/>
          </a:xfrm>
          <a:custGeom>
            <a:avLst/>
            <a:gdLst/>
            <a:ahLst/>
            <a:cxnLst/>
            <a:rect r="r" b="b" t="t" l="l"/>
            <a:pathLst>
              <a:path h="7110638" w="7744260">
                <a:moveTo>
                  <a:pt x="0" y="0"/>
                </a:moveTo>
                <a:lnTo>
                  <a:pt x="7744260" y="0"/>
                </a:lnTo>
                <a:lnTo>
                  <a:pt x="7744260" y="7110638"/>
                </a:lnTo>
                <a:lnTo>
                  <a:pt x="0" y="7110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625033"/>
            <a:ext cx="12323131" cy="3894718"/>
          </a:xfrm>
          <a:custGeom>
            <a:avLst/>
            <a:gdLst/>
            <a:ahLst/>
            <a:cxnLst/>
            <a:rect r="r" b="b" t="t" l="l"/>
            <a:pathLst>
              <a:path h="3894718" w="12323131">
                <a:moveTo>
                  <a:pt x="0" y="0"/>
                </a:moveTo>
                <a:lnTo>
                  <a:pt x="12323131" y="0"/>
                </a:lnTo>
                <a:lnTo>
                  <a:pt x="12323131" y="3894718"/>
                </a:lnTo>
                <a:lnTo>
                  <a:pt x="0" y="3894718"/>
                </a:lnTo>
                <a:lnTo>
                  <a:pt x="0" y="0"/>
                </a:lnTo>
                <a:close/>
              </a:path>
            </a:pathLst>
          </a:custGeom>
          <a:blipFill>
            <a:blip r:embed="rId4"/>
            <a:stretch>
              <a:fillRect l="0" t="0" r="0" b="0"/>
            </a:stretch>
          </a:blipFill>
        </p:spPr>
      </p:sp>
      <p:sp>
        <p:nvSpPr>
          <p:cNvPr name="Freeform 4" id="4"/>
          <p:cNvSpPr/>
          <p:nvPr/>
        </p:nvSpPr>
        <p:spPr>
          <a:xfrm flipH="false" flipV="false" rot="0">
            <a:off x="1028700" y="6557851"/>
            <a:ext cx="12323131" cy="2854255"/>
          </a:xfrm>
          <a:custGeom>
            <a:avLst/>
            <a:gdLst/>
            <a:ahLst/>
            <a:cxnLst/>
            <a:rect r="r" b="b" t="t" l="l"/>
            <a:pathLst>
              <a:path h="2854255" w="12323131">
                <a:moveTo>
                  <a:pt x="0" y="0"/>
                </a:moveTo>
                <a:lnTo>
                  <a:pt x="12323131" y="0"/>
                </a:lnTo>
                <a:lnTo>
                  <a:pt x="12323131" y="2854254"/>
                </a:lnTo>
                <a:lnTo>
                  <a:pt x="0" y="2854254"/>
                </a:lnTo>
                <a:lnTo>
                  <a:pt x="0" y="0"/>
                </a:lnTo>
                <a:close/>
              </a:path>
            </a:pathLst>
          </a:custGeom>
          <a:blipFill>
            <a:blip r:embed="rId5"/>
            <a:stretch>
              <a:fillRect l="0" t="0" r="0" b="0"/>
            </a:stretch>
          </a:blipFill>
        </p:spPr>
      </p:sp>
      <p:sp>
        <p:nvSpPr>
          <p:cNvPr name="TextBox 5" id="5"/>
          <p:cNvSpPr txBox="true"/>
          <p:nvPr/>
        </p:nvSpPr>
        <p:spPr>
          <a:xfrm rot="0">
            <a:off x="1028700" y="1594324"/>
            <a:ext cx="15497854" cy="990600"/>
          </a:xfrm>
          <a:prstGeom prst="rect">
            <a:avLst/>
          </a:prstGeom>
        </p:spPr>
        <p:txBody>
          <a:bodyPr anchor="t" rtlCol="false" tIns="0" lIns="0" bIns="0" rIns="0">
            <a:spAutoFit/>
          </a:bodyPr>
          <a:lstStyle/>
          <a:p>
            <a:pPr algn="l" marL="0" indent="0" lvl="0">
              <a:lnSpc>
                <a:spcPts val="7800"/>
              </a:lnSpc>
              <a:spcBef>
                <a:spcPct val="0"/>
              </a:spcBef>
            </a:pPr>
            <a:r>
              <a:rPr lang="en-US" b="true" sz="6500" spc="-273" strike="noStrike" u="none">
                <a:solidFill>
                  <a:srgbClr val="FFFFFF"/>
                </a:solidFill>
                <a:latin typeface="Glock Grotesk"/>
                <a:ea typeface="Glock Grotesk"/>
                <a:cs typeface="Glock Grotesk"/>
                <a:sym typeface="Glock Grotesk"/>
              </a:rPr>
              <a:t>Wo</a:t>
            </a:r>
            <a:r>
              <a:rPr lang="en-US" b="true" sz="6500" spc="-273" strike="noStrike" u="none">
                <a:solidFill>
                  <a:srgbClr val="FFFFFF"/>
                </a:solidFill>
                <a:latin typeface="Glock Grotesk"/>
                <a:ea typeface="Glock Grotesk"/>
                <a:cs typeface="Glock Grotesk"/>
                <a:sym typeface="Glock Grotesk"/>
              </a:rPr>
              <a:t>r</a:t>
            </a:r>
            <a:r>
              <a:rPr lang="en-US" b="true" sz="6500" spc="-273" strike="noStrike" u="none">
                <a:solidFill>
                  <a:srgbClr val="FFFFFF"/>
                </a:solidFill>
                <a:latin typeface="Glock Grotesk"/>
                <a:ea typeface="Glock Grotesk"/>
                <a:cs typeface="Glock Grotesk"/>
                <a:sym typeface="Glock Grotesk"/>
              </a:rPr>
              <a:t>ki</a:t>
            </a:r>
            <a:r>
              <a:rPr lang="en-US" b="true" sz="6500" spc="-273" strike="noStrike" u="none">
                <a:solidFill>
                  <a:srgbClr val="FFFFFF"/>
                </a:solidFill>
                <a:latin typeface="Glock Grotesk"/>
                <a:ea typeface="Glock Grotesk"/>
                <a:cs typeface="Glock Grotesk"/>
                <a:sym typeface="Glock Grotesk"/>
              </a:rPr>
              <a:t>ng Demons</a:t>
            </a:r>
            <a:r>
              <a:rPr lang="en-US" b="true" sz="6500" spc="-273" strike="noStrike" u="none">
                <a:solidFill>
                  <a:srgbClr val="FFFFFF"/>
                </a:solidFill>
                <a:latin typeface="Glock Grotesk"/>
                <a:ea typeface="Glock Grotesk"/>
                <a:cs typeface="Glock Grotesk"/>
                <a:sym typeface="Glock Grotesk"/>
              </a:rPr>
              <a:t>t</a:t>
            </a:r>
            <a:r>
              <a:rPr lang="en-US" b="true" sz="6500" spc="-273" strike="noStrike" u="none">
                <a:solidFill>
                  <a:srgbClr val="FFFFFF"/>
                </a:solidFill>
                <a:latin typeface="Glock Grotesk"/>
                <a:ea typeface="Glock Grotesk"/>
                <a:cs typeface="Glock Grotesk"/>
                <a:sym typeface="Glock Grotesk"/>
              </a:rPr>
              <a:t>ration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70908">
                <a:alpha val="100000"/>
              </a:srgbClr>
            </a:gs>
            <a:gs pos="50000">
              <a:srgbClr val="29464A">
                <a:alpha val="100000"/>
              </a:srgbClr>
            </a:gs>
            <a:gs pos="100000">
              <a:srgbClr val="6D808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0860551" y="4732669"/>
            <a:ext cx="7744260" cy="7110638"/>
          </a:xfrm>
          <a:custGeom>
            <a:avLst/>
            <a:gdLst/>
            <a:ahLst/>
            <a:cxnLst/>
            <a:rect r="r" b="b" t="t" l="l"/>
            <a:pathLst>
              <a:path h="7110638" w="7744260">
                <a:moveTo>
                  <a:pt x="0" y="0"/>
                </a:moveTo>
                <a:lnTo>
                  <a:pt x="7744260" y="0"/>
                </a:lnTo>
                <a:lnTo>
                  <a:pt x="7744260" y="7110638"/>
                </a:lnTo>
                <a:lnTo>
                  <a:pt x="0" y="7110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723404"/>
            <a:ext cx="12701356" cy="6534896"/>
          </a:xfrm>
          <a:custGeom>
            <a:avLst/>
            <a:gdLst/>
            <a:ahLst/>
            <a:cxnLst/>
            <a:rect r="r" b="b" t="t" l="l"/>
            <a:pathLst>
              <a:path h="6534896" w="12701356">
                <a:moveTo>
                  <a:pt x="0" y="0"/>
                </a:moveTo>
                <a:lnTo>
                  <a:pt x="12701356" y="0"/>
                </a:lnTo>
                <a:lnTo>
                  <a:pt x="12701356" y="6534896"/>
                </a:lnTo>
                <a:lnTo>
                  <a:pt x="0" y="6534896"/>
                </a:lnTo>
                <a:lnTo>
                  <a:pt x="0" y="0"/>
                </a:lnTo>
                <a:close/>
              </a:path>
            </a:pathLst>
          </a:custGeom>
          <a:blipFill>
            <a:blip r:embed="rId4"/>
            <a:stretch>
              <a:fillRect l="0" t="0" r="0" b="0"/>
            </a:stretch>
          </a:blipFill>
        </p:spPr>
      </p:sp>
      <p:sp>
        <p:nvSpPr>
          <p:cNvPr name="TextBox 4" id="4"/>
          <p:cNvSpPr txBox="true"/>
          <p:nvPr/>
        </p:nvSpPr>
        <p:spPr>
          <a:xfrm rot="0">
            <a:off x="1028700" y="1594324"/>
            <a:ext cx="15497854" cy="990600"/>
          </a:xfrm>
          <a:prstGeom prst="rect">
            <a:avLst/>
          </a:prstGeom>
        </p:spPr>
        <p:txBody>
          <a:bodyPr anchor="t" rtlCol="false" tIns="0" lIns="0" bIns="0" rIns="0">
            <a:spAutoFit/>
          </a:bodyPr>
          <a:lstStyle/>
          <a:p>
            <a:pPr algn="l" marL="0" indent="0" lvl="0">
              <a:lnSpc>
                <a:spcPts val="7800"/>
              </a:lnSpc>
              <a:spcBef>
                <a:spcPct val="0"/>
              </a:spcBef>
            </a:pPr>
            <a:r>
              <a:rPr lang="en-US" b="true" sz="6500" spc="-273" strike="noStrike" u="none">
                <a:solidFill>
                  <a:srgbClr val="FFFFFF"/>
                </a:solidFill>
                <a:latin typeface="Glock Grotesk"/>
                <a:ea typeface="Glock Grotesk"/>
                <a:cs typeface="Glock Grotesk"/>
                <a:sym typeface="Glock Grotesk"/>
              </a:rPr>
              <a:t>Wo</a:t>
            </a:r>
            <a:r>
              <a:rPr lang="en-US" b="true" sz="6500" spc="-273" strike="noStrike" u="none">
                <a:solidFill>
                  <a:srgbClr val="FFFFFF"/>
                </a:solidFill>
                <a:latin typeface="Glock Grotesk"/>
                <a:ea typeface="Glock Grotesk"/>
                <a:cs typeface="Glock Grotesk"/>
                <a:sym typeface="Glock Grotesk"/>
              </a:rPr>
              <a:t>r</a:t>
            </a:r>
            <a:r>
              <a:rPr lang="en-US" b="true" sz="6500" spc="-273" strike="noStrike" u="none">
                <a:solidFill>
                  <a:srgbClr val="FFFFFF"/>
                </a:solidFill>
                <a:latin typeface="Glock Grotesk"/>
                <a:ea typeface="Glock Grotesk"/>
                <a:cs typeface="Glock Grotesk"/>
                <a:sym typeface="Glock Grotesk"/>
              </a:rPr>
              <a:t>ki</a:t>
            </a:r>
            <a:r>
              <a:rPr lang="en-US" b="true" sz="6500" spc="-273" strike="noStrike" u="none">
                <a:solidFill>
                  <a:srgbClr val="FFFFFF"/>
                </a:solidFill>
                <a:latin typeface="Glock Grotesk"/>
                <a:ea typeface="Glock Grotesk"/>
                <a:cs typeface="Glock Grotesk"/>
                <a:sym typeface="Glock Grotesk"/>
              </a:rPr>
              <a:t>ng Demons</a:t>
            </a:r>
            <a:r>
              <a:rPr lang="en-US" b="true" sz="6500" spc="-273" strike="noStrike" u="none">
                <a:solidFill>
                  <a:srgbClr val="FFFFFF"/>
                </a:solidFill>
                <a:latin typeface="Glock Grotesk"/>
                <a:ea typeface="Glock Grotesk"/>
                <a:cs typeface="Glock Grotesk"/>
                <a:sym typeface="Glock Grotesk"/>
              </a:rPr>
              <a:t>t</a:t>
            </a:r>
            <a:r>
              <a:rPr lang="en-US" b="true" sz="6500" spc="-273" strike="noStrike" u="none">
                <a:solidFill>
                  <a:srgbClr val="FFFFFF"/>
                </a:solidFill>
                <a:latin typeface="Glock Grotesk"/>
                <a:ea typeface="Glock Grotesk"/>
                <a:cs typeface="Glock Grotesk"/>
                <a:sym typeface="Glock Grotesk"/>
              </a:rPr>
              <a:t>ration</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070908">
                <a:alpha val="100000"/>
              </a:srgbClr>
            </a:gs>
            <a:gs pos="33333">
              <a:srgbClr val="29464A">
                <a:alpha val="100000"/>
              </a:srgbClr>
            </a:gs>
            <a:gs pos="66667">
              <a:srgbClr val="6D8080">
                <a:alpha val="100000"/>
              </a:srgbClr>
            </a:gs>
            <a:gs pos="100000">
              <a:srgbClr val="B9C8B6">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1565677"/>
            <a:ext cx="16230600" cy="936624"/>
          </a:xfrm>
          <a:prstGeom prst="rect">
            <a:avLst/>
          </a:prstGeom>
        </p:spPr>
        <p:txBody>
          <a:bodyPr anchor="t" rtlCol="false" tIns="0" lIns="0" bIns="0" rIns="0">
            <a:spAutoFit/>
          </a:bodyPr>
          <a:lstStyle/>
          <a:p>
            <a:pPr algn="l" marL="0" indent="0" lvl="0">
              <a:lnSpc>
                <a:spcPts val="7700"/>
              </a:lnSpc>
              <a:spcBef>
                <a:spcPct val="0"/>
              </a:spcBef>
            </a:pPr>
            <a:r>
              <a:rPr lang="en-US" sz="5500">
                <a:solidFill>
                  <a:srgbClr val="FFFFFF"/>
                </a:solidFill>
                <a:latin typeface="Glock Grotesk"/>
                <a:ea typeface="Glock Grotesk"/>
                <a:cs typeface="Glock Grotesk"/>
                <a:sym typeface="Glock Grotesk"/>
              </a:rPr>
              <a:t>Va</a:t>
            </a:r>
            <a:r>
              <a:rPr lang="en-US" b="true" sz="5500" strike="noStrike" u="none">
                <a:solidFill>
                  <a:srgbClr val="FFFFFF"/>
                </a:solidFill>
                <a:latin typeface="Glock Grotesk"/>
                <a:ea typeface="Glock Grotesk"/>
                <a:cs typeface="Glock Grotesk"/>
                <a:sym typeface="Glock Grotesk"/>
              </a:rPr>
              <a:t>l</a:t>
            </a:r>
            <a:r>
              <a:rPr lang="en-US" b="true" sz="5500" strike="noStrike" u="none">
                <a:solidFill>
                  <a:srgbClr val="FFFFFF"/>
                </a:solidFill>
                <a:latin typeface="Glock Grotesk"/>
                <a:ea typeface="Glock Grotesk"/>
                <a:cs typeface="Glock Grotesk"/>
                <a:sym typeface="Glock Grotesk"/>
              </a:rPr>
              <a:t>ida</a:t>
            </a:r>
            <a:r>
              <a:rPr lang="en-US" b="true" sz="5500" strike="noStrike" u="none">
                <a:solidFill>
                  <a:srgbClr val="FFFFFF"/>
                </a:solidFill>
                <a:latin typeface="Glock Grotesk"/>
                <a:ea typeface="Glock Grotesk"/>
                <a:cs typeface="Glock Grotesk"/>
                <a:sym typeface="Glock Grotesk"/>
              </a:rPr>
              <a:t>tio</a:t>
            </a:r>
            <a:r>
              <a:rPr lang="en-US" b="true" sz="5500" strike="noStrike" u="none">
                <a:solidFill>
                  <a:srgbClr val="FFFFFF"/>
                </a:solidFill>
                <a:latin typeface="Glock Grotesk"/>
                <a:ea typeface="Glock Grotesk"/>
                <a:cs typeface="Glock Grotesk"/>
                <a:sym typeface="Glock Grotesk"/>
              </a:rPr>
              <a:t>n,</a:t>
            </a:r>
            <a:r>
              <a:rPr lang="en-US" b="true" sz="5500" strike="noStrike" u="none">
                <a:solidFill>
                  <a:srgbClr val="FFFFFF"/>
                </a:solidFill>
                <a:latin typeface="Glock Grotesk"/>
                <a:ea typeface="Glock Grotesk"/>
                <a:cs typeface="Glock Grotesk"/>
                <a:sym typeface="Glock Grotesk"/>
              </a:rPr>
              <a:t> Results &amp; Limitation</a:t>
            </a:r>
            <a:r>
              <a:rPr lang="en-US" b="true" sz="5500" strike="noStrike" u="none">
                <a:solidFill>
                  <a:srgbClr val="FFFFFF"/>
                </a:solidFill>
                <a:latin typeface="Glock Grotesk"/>
                <a:ea typeface="Glock Grotesk"/>
                <a:cs typeface="Glock Grotesk"/>
                <a:sym typeface="Glock Grotesk"/>
              </a:rPr>
              <a:t>s</a:t>
            </a:r>
          </a:p>
        </p:txBody>
      </p:sp>
      <p:grpSp>
        <p:nvGrpSpPr>
          <p:cNvPr name="Group 3" id="3"/>
          <p:cNvGrpSpPr/>
          <p:nvPr/>
        </p:nvGrpSpPr>
        <p:grpSpPr>
          <a:xfrm rot="0">
            <a:off x="1028700" y="2759477"/>
            <a:ext cx="5034470" cy="6089248"/>
            <a:chOff x="0" y="0"/>
            <a:chExt cx="1325951" cy="1603753"/>
          </a:xfrm>
        </p:grpSpPr>
        <p:sp>
          <p:nvSpPr>
            <p:cNvPr name="Freeform 4" id="4"/>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5" id="5"/>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6" id="6"/>
          <p:cNvGrpSpPr/>
          <p:nvPr/>
        </p:nvGrpSpPr>
        <p:grpSpPr>
          <a:xfrm rot="0">
            <a:off x="6626765" y="2759477"/>
            <a:ext cx="5034470" cy="6089248"/>
            <a:chOff x="0" y="0"/>
            <a:chExt cx="1325951" cy="1603753"/>
          </a:xfrm>
        </p:grpSpPr>
        <p:sp>
          <p:nvSpPr>
            <p:cNvPr name="Freeform 7" id="7"/>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8" id="8"/>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9" id="9"/>
          <p:cNvGrpSpPr/>
          <p:nvPr/>
        </p:nvGrpSpPr>
        <p:grpSpPr>
          <a:xfrm rot="0">
            <a:off x="12224830" y="2759477"/>
            <a:ext cx="5034470" cy="6089248"/>
            <a:chOff x="0" y="0"/>
            <a:chExt cx="1325951" cy="1603753"/>
          </a:xfrm>
        </p:grpSpPr>
        <p:sp>
          <p:nvSpPr>
            <p:cNvPr name="Freeform 10" id="10"/>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11" id="11"/>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12" id="12"/>
          <p:cNvSpPr txBox="true"/>
          <p:nvPr/>
        </p:nvSpPr>
        <p:spPr>
          <a:xfrm rot="0">
            <a:off x="1347316"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Validation Approach</a:t>
            </a:r>
          </a:p>
        </p:txBody>
      </p:sp>
      <p:sp>
        <p:nvSpPr>
          <p:cNvPr name="TextBox 13" id="13"/>
          <p:cNvSpPr txBox="true"/>
          <p:nvPr/>
        </p:nvSpPr>
        <p:spPr>
          <a:xfrm rot="0">
            <a:off x="6786073"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Evaluation Metrics</a:t>
            </a:r>
          </a:p>
        </p:txBody>
      </p:sp>
      <p:sp>
        <p:nvSpPr>
          <p:cNvPr name="TextBox 14" id="14"/>
          <p:cNvSpPr txBox="true"/>
          <p:nvPr/>
        </p:nvSpPr>
        <p:spPr>
          <a:xfrm rot="0">
            <a:off x="12545253" y="3237964"/>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Limitations</a:t>
            </a:r>
          </a:p>
        </p:txBody>
      </p:sp>
      <p:sp>
        <p:nvSpPr>
          <p:cNvPr name="TextBox 15" id="15"/>
          <p:cNvSpPr txBox="true"/>
          <p:nvPr/>
        </p:nvSpPr>
        <p:spPr>
          <a:xfrm rot="0">
            <a:off x="415290" y="9039225"/>
            <a:ext cx="17872710" cy="1536065"/>
          </a:xfrm>
          <a:prstGeom prst="rect">
            <a:avLst/>
          </a:prstGeom>
        </p:spPr>
        <p:txBody>
          <a:bodyPr anchor="t" rtlCol="false" tIns="0" lIns="0" bIns="0" rIns="0">
            <a:spAutoFit/>
          </a:bodyPr>
          <a:lstStyle/>
          <a:p>
            <a:pPr algn="l">
              <a:lnSpc>
                <a:spcPts val="4059"/>
              </a:lnSpc>
              <a:spcBef>
                <a:spcPct val="0"/>
              </a:spcBef>
            </a:pPr>
            <a:r>
              <a:rPr lang="en-US" sz="2899">
                <a:solidFill>
                  <a:srgbClr val="FFFFFF"/>
                </a:solidFill>
                <a:latin typeface="Work Sans"/>
                <a:ea typeface="Work Sans"/>
                <a:cs typeface="Work Sans"/>
                <a:sym typeface="Work Sans"/>
              </a:rPr>
              <a:t>Case study targets: Retain at least 80% of document structure with context; aim for PII detection coverage approaching 100%.</a:t>
            </a:r>
          </a:p>
          <a:p>
            <a:pPr algn="l">
              <a:lnSpc>
                <a:spcPts val="4059"/>
              </a:lnSpc>
              <a:spcBef>
                <a:spcPct val="0"/>
              </a:spcBef>
            </a:pPr>
          </a:p>
        </p:txBody>
      </p:sp>
      <p:sp>
        <p:nvSpPr>
          <p:cNvPr name="TextBox 16" id="16"/>
          <p:cNvSpPr txBox="true"/>
          <p:nvPr/>
        </p:nvSpPr>
        <p:spPr>
          <a:xfrm rot="0">
            <a:off x="1349123" y="3975936"/>
            <a:ext cx="4393625" cy="359918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Work Sans"/>
                <a:ea typeface="Work Sans"/>
                <a:cs typeface="Work Sans"/>
                <a:sym typeface="Work Sans"/>
              </a:rPr>
              <a:t>DOCX, PPTX and scanned PDF extraction tested.</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PII detector tested using 10 positive and 5 negative cases.</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I</a:t>
            </a:r>
            <a:r>
              <a:rPr lang="en-US" sz="2300">
                <a:solidFill>
                  <a:srgbClr val="FFFFFF"/>
                </a:solidFill>
                <a:latin typeface="Work Sans"/>
                <a:ea typeface="Work Sans"/>
                <a:cs typeface="Work Sans"/>
                <a:sym typeface="Work Sans"/>
              </a:rPr>
              <a:t>ntegrated outputs include findings, sanitized text and QA logs.</a:t>
            </a:r>
          </a:p>
          <a:p>
            <a:pPr algn="l" marL="0" indent="0" lvl="0">
              <a:lnSpc>
                <a:spcPts val="3220"/>
              </a:lnSpc>
              <a:spcBef>
                <a:spcPct val="0"/>
              </a:spcBef>
            </a:pPr>
          </a:p>
        </p:txBody>
      </p:sp>
      <p:sp>
        <p:nvSpPr>
          <p:cNvPr name="TextBox 17" id="17"/>
          <p:cNvSpPr txBox="true"/>
          <p:nvPr/>
        </p:nvSpPr>
        <p:spPr>
          <a:xfrm rot="0">
            <a:off x="6947188" y="3975936"/>
            <a:ext cx="4393625" cy="479933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Work Sans"/>
                <a:ea typeface="Work Sans"/>
                <a:cs typeface="Work Sans"/>
                <a:sym typeface="Work Sans"/>
              </a:rPr>
              <a:t>DOCX: 1,885 segments extracted.</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PPTX: 374 segments extracted.</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PDF: 1,033 OCR segments across 35 pages.</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D</a:t>
            </a:r>
            <a:r>
              <a:rPr lang="en-US" sz="2300">
                <a:solidFill>
                  <a:srgbClr val="FFFFFF"/>
                </a:solidFill>
                <a:latin typeface="Work Sans"/>
                <a:ea typeface="Work Sans"/>
                <a:cs typeface="Work Sans"/>
                <a:sym typeface="Work Sans"/>
              </a:rPr>
              <a:t>etector tests: 15/15 passed.</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Extraction: zero reported failures across all three files in the successful run.</a:t>
            </a:r>
          </a:p>
          <a:p>
            <a:pPr algn="l" marL="0" indent="0" lvl="0">
              <a:lnSpc>
                <a:spcPts val="3220"/>
              </a:lnSpc>
              <a:spcBef>
                <a:spcPct val="0"/>
              </a:spcBef>
            </a:pPr>
          </a:p>
        </p:txBody>
      </p:sp>
      <p:sp>
        <p:nvSpPr>
          <p:cNvPr name="TextBox 18" id="18"/>
          <p:cNvSpPr txBox="true"/>
          <p:nvPr/>
        </p:nvSpPr>
        <p:spPr>
          <a:xfrm rot="0">
            <a:off x="12547060" y="3985461"/>
            <a:ext cx="4393625" cy="4823460"/>
          </a:xfrm>
          <a:prstGeom prst="rect">
            <a:avLst/>
          </a:prstGeom>
        </p:spPr>
        <p:txBody>
          <a:bodyPr anchor="t" rtlCol="false" tIns="0" lIns="0" bIns="0" rIns="0">
            <a:spAutoFit/>
          </a:bodyPr>
          <a:lstStyle/>
          <a:p>
            <a:pPr algn="l" marL="453392" indent="-226696" lvl="1">
              <a:lnSpc>
                <a:spcPts val="2940"/>
              </a:lnSpc>
              <a:buFont typeface="Arial"/>
              <a:buChar char="•"/>
            </a:pPr>
            <a:r>
              <a:rPr lang="en-US" sz="2100">
                <a:solidFill>
                  <a:srgbClr val="FFFFFF"/>
                </a:solidFill>
                <a:latin typeface="Work Sans"/>
                <a:ea typeface="Work Sans"/>
                <a:cs typeface="Work Sans"/>
                <a:sym typeface="Work Sans"/>
              </a:rPr>
              <a:t>OCR may misread text in scanned documents.</a:t>
            </a:r>
          </a:p>
          <a:p>
            <a:pPr algn="l" marL="453392" indent="-226696" lvl="1">
              <a:lnSpc>
                <a:spcPts val="2940"/>
              </a:lnSpc>
              <a:buFont typeface="Arial"/>
              <a:buChar char="•"/>
            </a:pPr>
            <a:r>
              <a:rPr lang="en-US" sz="2100">
                <a:solidFill>
                  <a:srgbClr val="FFFFFF"/>
                </a:solidFill>
                <a:latin typeface="Work Sans"/>
                <a:ea typeface="Work Sans"/>
                <a:cs typeface="Work Sans"/>
                <a:sym typeface="Work Sans"/>
              </a:rPr>
              <a:t>Some embedded vector images were not OCR-processed.</a:t>
            </a:r>
          </a:p>
          <a:p>
            <a:pPr algn="l" marL="453392" indent="-226696" lvl="1">
              <a:lnSpc>
                <a:spcPts val="2940"/>
              </a:lnSpc>
              <a:buFont typeface="Arial"/>
              <a:buChar char="•"/>
            </a:pPr>
            <a:r>
              <a:rPr lang="en-US" sz="2100">
                <a:solidFill>
                  <a:srgbClr val="FFFFFF"/>
                </a:solidFill>
                <a:latin typeface="Work Sans"/>
                <a:ea typeface="Work Sans"/>
                <a:cs typeface="Work Sans"/>
                <a:sym typeface="Work Sans"/>
              </a:rPr>
              <a:t>Name</a:t>
            </a:r>
            <a:r>
              <a:rPr lang="en-US" sz="2100">
                <a:solidFill>
                  <a:srgbClr val="FFFFFF"/>
                </a:solidFill>
                <a:latin typeface="Work Sans"/>
                <a:ea typeface="Work Sans"/>
                <a:cs typeface="Work Sans"/>
                <a:sym typeface="Work Sans"/>
              </a:rPr>
              <a:t> detection can produce false positives.</a:t>
            </a:r>
          </a:p>
          <a:p>
            <a:pPr algn="l" marL="453392" indent="-226696" lvl="1">
              <a:lnSpc>
                <a:spcPts val="2940"/>
              </a:lnSpc>
              <a:buFont typeface="Arial"/>
              <a:buChar char="•"/>
            </a:pPr>
            <a:r>
              <a:rPr lang="en-US" sz="2100">
                <a:solidFill>
                  <a:srgbClr val="FFFFFF"/>
                </a:solidFill>
                <a:latin typeface="Work Sans"/>
                <a:ea typeface="Work Sans"/>
                <a:cs typeface="Work Sans"/>
                <a:sym typeface="Work Sans"/>
              </a:rPr>
              <a:t>The small test suite does not establish real-world precision or recall.</a:t>
            </a:r>
          </a:p>
          <a:p>
            <a:pPr algn="l" marL="453392" indent="-226696" lvl="1">
              <a:lnSpc>
                <a:spcPts val="2940"/>
              </a:lnSpc>
              <a:buFont typeface="Arial"/>
              <a:buChar char="•"/>
            </a:pPr>
            <a:r>
              <a:rPr lang="en-US" sz="2100">
                <a:solidFill>
                  <a:srgbClr val="FFFFFF"/>
                </a:solidFill>
                <a:latin typeface="Work Sans"/>
                <a:ea typeface="Work Sans"/>
                <a:cs typeface="Work Sans"/>
                <a:sym typeface="Work Sans"/>
              </a:rPr>
              <a:t>Complete redaction coverage still needs verification.</a:t>
            </a:r>
          </a:p>
          <a:p>
            <a:pPr algn="l" marL="0" indent="0" lvl="0">
              <a:lnSpc>
                <a:spcPts val="294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070908">
                <a:alpha val="100000"/>
              </a:srgbClr>
            </a:gs>
            <a:gs pos="33333">
              <a:srgbClr val="29464A">
                <a:alpha val="100000"/>
              </a:srgbClr>
            </a:gs>
            <a:gs pos="66667">
              <a:srgbClr val="6D8080">
                <a:alpha val="100000"/>
              </a:srgbClr>
            </a:gs>
            <a:gs pos="100000">
              <a:srgbClr val="B9C8B6">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1565677"/>
            <a:ext cx="16230600" cy="936624"/>
          </a:xfrm>
          <a:prstGeom prst="rect">
            <a:avLst/>
          </a:prstGeom>
        </p:spPr>
        <p:txBody>
          <a:bodyPr anchor="t" rtlCol="false" tIns="0" lIns="0" bIns="0" rIns="0">
            <a:spAutoFit/>
          </a:bodyPr>
          <a:lstStyle/>
          <a:p>
            <a:pPr algn="l" marL="0" indent="0" lvl="0">
              <a:lnSpc>
                <a:spcPts val="7700"/>
              </a:lnSpc>
              <a:spcBef>
                <a:spcPct val="0"/>
              </a:spcBef>
            </a:pPr>
            <a:r>
              <a:rPr lang="en-US" sz="5500">
                <a:solidFill>
                  <a:srgbClr val="FFFFFF"/>
                </a:solidFill>
                <a:latin typeface="Glock Grotesk"/>
                <a:ea typeface="Glock Grotesk"/>
                <a:cs typeface="Glock Grotesk"/>
                <a:sym typeface="Glock Grotesk"/>
              </a:rPr>
              <a:t>C</a:t>
            </a:r>
            <a:r>
              <a:rPr lang="en-US" b="true" sz="5500" strike="noStrike" u="none">
                <a:solidFill>
                  <a:srgbClr val="FFFFFF"/>
                </a:solidFill>
                <a:latin typeface="Glock Grotesk"/>
                <a:ea typeface="Glock Grotesk"/>
                <a:cs typeface="Glock Grotesk"/>
                <a:sym typeface="Glock Grotesk"/>
              </a:rPr>
              <a:t>on</a:t>
            </a:r>
            <a:r>
              <a:rPr lang="en-US" b="true" sz="5500" strike="noStrike" u="none">
                <a:solidFill>
                  <a:srgbClr val="FFFFFF"/>
                </a:solidFill>
                <a:latin typeface="Glock Grotesk"/>
                <a:ea typeface="Glock Grotesk"/>
                <a:cs typeface="Glock Grotesk"/>
                <a:sym typeface="Glock Grotesk"/>
              </a:rPr>
              <a:t>cl</a:t>
            </a:r>
            <a:r>
              <a:rPr lang="en-US" b="true" sz="5500" strike="noStrike" u="none">
                <a:solidFill>
                  <a:srgbClr val="FFFFFF"/>
                </a:solidFill>
                <a:latin typeface="Glock Grotesk"/>
                <a:ea typeface="Glock Grotesk"/>
                <a:cs typeface="Glock Grotesk"/>
                <a:sym typeface="Glock Grotesk"/>
              </a:rPr>
              <a:t>usion &amp; Next Steps</a:t>
            </a:r>
          </a:p>
        </p:txBody>
      </p:sp>
      <p:grpSp>
        <p:nvGrpSpPr>
          <p:cNvPr name="Group 3" id="3"/>
          <p:cNvGrpSpPr/>
          <p:nvPr/>
        </p:nvGrpSpPr>
        <p:grpSpPr>
          <a:xfrm rot="0">
            <a:off x="3827733" y="2690061"/>
            <a:ext cx="5034470" cy="6089248"/>
            <a:chOff x="0" y="0"/>
            <a:chExt cx="1325951" cy="1603753"/>
          </a:xfrm>
        </p:grpSpPr>
        <p:sp>
          <p:nvSpPr>
            <p:cNvPr name="Freeform 4" id="4"/>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5" id="5"/>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grpSp>
        <p:nvGrpSpPr>
          <p:cNvPr name="Group 6" id="6"/>
          <p:cNvGrpSpPr/>
          <p:nvPr/>
        </p:nvGrpSpPr>
        <p:grpSpPr>
          <a:xfrm rot="0">
            <a:off x="9425798" y="2690061"/>
            <a:ext cx="5034470" cy="6089248"/>
            <a:chOff x="0" y="0"/>
            <a:chExt cx="1325951" cy="1603753"/>
          </a:xfrm>
        </p:grpSpPr>
        <p:sp>
          <p:nvSpPr>
            <p:cNvPr name="Freeform 7" id="7"/>
            <p:cNvSpPr/>
            <p:nvPr/>
          </p:nvSpPr>
          <p:spPr>
            <a:xfrm flipH="false" flipV="false" rot="0">
              <a:off x="0" y="0"/>
              <a:ext cx="1325951" cy="1603753"/>
            </a:xfrm>
            <a:custGeom>
              <a:avLst/>
              <a:gdLst/>
              <a:ahLst/>
              <a:cxnLst/>
              <a:rect r="r" b="b" t="t" l="l"/>
              <a:pathLst>
                <a:path h="1603753" w="1325951">
                  <a:moveTo>
                    <a:pt x="15378" y="0"/>
                  </a:moveTo>
                  <a:lnTo>
                    <a:pt x="1310573" y="0"/>
                  </a:lnTo>
                  <a:cubicBezTo>
                    <a:pt x="1319066" y="0"/>
                    <a:pt x="1325951" y="6885"/>
                    <a:pt x="1325951" y="15378"/>
                  </a:cubicBezTo>
                  <a:lnTo>
                    <a:pt x="1325951" y="1588375"/>
                  </a:lnTo>
                  <a:cubicBezTo>
                    <a:pt x="1325951" y="1596868"/>
                    <a:pt x="1319066" y="1603753"/>
                    <a:pt x="1310573" y="1603753"/>
                  </a:cubicBezTo>
                  <a:lnTo>
                    <a:pt x="15378" y="1603753"/>
                  </a:lnTo>
                  <a:cubicBezTo>
                    <a:pt x="6885" y="1603753"/>
                    <a:pt x="0" y="1596868"/>
                    <a:pt x="0" y="1588375"/>
                  </a:cubicBezTo>
                  <a:lnTo>
                    <a:pt x="0" y="15378"/>
                  </a:lnTo>
                  <a:cubicBezTo>
                    <a:pt x="0" y="6885"/>
                    <a:pt x="6885" y="0"/>
                    <a:pt x="15378" y="0"/>
                  </a:cubicBezTo>
                  <a:close/>
                </a:path>
              </a:pathLst>
            </a:custGeom>
            <a:solidFill>
              <a:srgbClr val="FFFFFF">
                <a:alpha val="19608"/>
              </a:srgbClr>
            </a:solidFill>
            <a:ln w="9525" cap="sq">
              <a:solidFill>
                <a:srgbClr val="9EB49F">
                  <a:alpha val="19608"/>
                </a:srgbClr>
              </a:solidFill>
              <a:prstDash val="solid"/>
              <a:miter/>
            </a:ln>
          </p:spPr>
        </p:sp>
        <p:sp>
          <p:nvSpPr>
            <p:cNvPr name="TextBox 8" id="8"/>
            <p:cNvSpPr txBox="true"/>
            <p:nvPr/>
          </p:nvSpPr>
          <p:spPr>
            <a:xfrm>
              <a:off x="0" y="-76200"/>
              <a:ext cx="1325951" cy="1679953"/>
            </a:xfrm>
            <a:prstGeom prst="rect">
              <a:avLst/>
            </a:prstGeom>
          </p:spPr>
          <p:txBody>
            <a:bodyPr anchor="ctr" rtlCol="false" tIns="50800" lIns="50800" bIns="50800" rIns="50800"/>
            <a:lstStyle/>
            <a:p>
              <a:pPr algn="ctr" marL="0" indent="0" lvl="0">
                <a:lnSpc>
                  <a:spcPts val="4479"/>
                </a:lnSpc>
                <a:spcBef>
                  <a:spcPct val="0"/>
                </a:spcBef>
              </a:pPr>
            </a:p>
          </p:txBody>
        </p:sp>
      </p:grpSp>
      <p:sp>
        <p:nvSpPr>
          <p:cNvPr name="TextBox 9" id="9"/>
          <p:cNvSpPr txBox="true"/>
          <p:nvPr/>
        </p:nvSpPr>
        <p:spPr>
          <a:xfrm rot="0">
            <a:off x="4146348" y="3168548"/>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Conclusion</a:t>
            </a:r>
          </a:p>
        </p:txBody>
      </p:sp>
      <p:sp>
        <p:nvSpPr>
          <p:cNvPr name="TextBox 10" id="10"/>
          <p:cNvSpPr txBox="true"/>
          <p:nvPr/>
        </p:nvSpPr>
        <p:spPr>
          <a:xfrm rot="0">
            <a:off x="9585105" y="3168548"/>
            <a:ext cx="4393625" cy="4572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FFFFFF"/>
                </a:solidFill>
                <a:latin typeface="Work Sans Bold"/>
                <a:ea typeface="Work Sans Bold"/>
                <a:cs typeface="Work Sans Bold"/>
                <a:sym typeface="Work Sans Bold"/>
              </a:rPr>
              <a:t>Future Scope</a:t>
            </a:r>
          </a:p>
        </p:txBody>
      </p:sp>
      <p:sp>
        <p:nvSpPr>
          <p:cNvPr name="TextBox 11" id="11"/>
          <p:cNvSpPr txBox="true"/>
          <p:nvPr/>
        </p:nvSpPr>
        <p:spPr>
          <a:xfrm rot="0">
            <a:off x="415290" y="9039225"/>
            <a:ext cx="17872710" cy="1021715"/>
          </a:xfrm>
          <a:prstGeom prst="rect">
            <a:avLst/>
          </a:prstGeom>
        </p:spPr>
        <p:txBody>
          <a:bodyPr anchor="t" rtlCol="false" tIns="0" lIns="0" bIns="0" rIns="0">
            <a:spAutoFit/>
          </a:bodyPr>
          <a:lstStyle/>
          <a:p>
            <a:pPr algn="l">
              <a:lnSpc>
                <a:spcPts val="4059"/>
              </a:lnSpc>
              <a:spcBef>
                <a:spcPct val="0"/>
              </a:spcBef>
            </a:pPr>
            <a:r>
              <a:rPr lang="en-US" sz="2899">
                <a:solidFill>
                  <a:srgbClr val="FFFFFF"/>
                </a:solidFill>
                <a:latin typeface="Work Sans"/>
                <a:ea typeface="Work Sans"/>
                <a:cs typeface="Work Sans"/>
                <a:sym typeface="Work Sans"/>
              </a:rPr>
              <a:t>O</a:t>
            </a:r>
            <a:r>
              <a:rPr lang="en-US" sz="2899">
                <a:solidFill>
                  <a:srgbClr val="FFFFFF"/>
                </a:solidFill>
                <a:latin typeface="Work Sans"/>
                <a:ea typeface="Work Sans"/>
                <a:cs typeface="Work Sans"/>
                <a:sym typeface="Work Sans"/>
              </a:rPr>
              <a:t>ur goal: Make document content safer for AI processing without losing the context needed to use it.</a:t>
            </a:r>
          </a:p>
        </p:txBody>
      </p:sp>
      <p:sp>
        <p:nvSpPr>
          <p:cNvPr name="TextBox 12" id="12"/>
          <p:cNvSpPr txBox="true"/>
          <p:nvPr/>
        </p:nvSpPr>
        <p:spPr>
          <a:xfrm rot="0">
            <a:off x="4148155" y="3792220"/>
            <a:ext cx="4393625" cy="519938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Work Sans"/>
                <a:ea typeface="Work Sans"/>
                <a:cs typeface="Work Sans"/>
                <a:sym typeface="Work Sans"/>
              </a:rPr>
              <a:t>Developed document extraction for DOCX, PPTX and scanned PDF files.</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Impl</a:t>
            </a:r>
            <a:r>
              <a:rPr lang="en-US" sz="2300">
                <a:solidFill>
                  <a:srgbClr val="FFFFFF"/>
                </a:solidFill>
                <a:latin typeface="Work Sans"/>
                <a:ea typeface="Work Sans"/>
                <a:cs typeface="Work Sans"/>
                <a:sym typeface="Work Sans"/>
              </a:rPr>
              <a:t>emented PII detection using regular expressions and spaCy NER.</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Gene</a:t>
            </a:r>
            <a:r>
              <a:rPr lang="en-US" sz="2300">
                <a:solidFill>
                  <a:srgbClr val="FFFFFF"/>
                </a:solidFill>
                <a:latin typeface="Work Sans"/>
                <a:ea typeface="Work Sans"/>
                <a:cs typeface="Work Sans"/>
                <a:sym typeface="Work Sans"/>
              </a:rPr>
              <a:t>rated structured findings with source-location information.</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Produced sanitized text outputs with redaction placeholders.</a:t>
            </a:r>
          </a:p>
          <a:p>
            <a:pPr algn="l" marL="0" indent="0" lvl="0">
              <a:lnSpc>
                <a:spcPts val="3220"/>
              </a:lnSpc>
              <a:spcBef>
                <a:spcPct val="0"/>
              </a:spcBef>
            </a:pPr>
          </a:p>
        </p:txBody>
      </p:sp>
      <p:sp>
        <p:nvSpPr>
          <p:cNvPr name="TextBox 13" id="13"/>
          <p:cNvSpPr txBox="true"/>
          <p:nvPr/>
        </p:nvSpPr>
        <p:spPr>
          <a:xfrm rot="0">
            <a:off x="9746220" y="3906520"/>
            <a:ext cx="4393625" cy="439928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FFFFFF"/>
                </a:solidFill>
                <a:latin typeface="Work Sans"/>
                <a:ea typeface="Work Sans"/>
                <a:cs typeface="Work Sans"/>
                <a:sym typeface="Work Sans"/>
              </a:rPr>
              <a:t>Improve OCR handling and reduce false positives.</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Expand PII categories and test coverage.</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Evaluate precision and recall using labelled data.</a:t>
            </a:r>
          </a:p>
          <a:p>
            <a:pPr algn="l" marL="496571" indent="-248285" lvl="1">
              <a:lnSpc>
                <a:spcPts val="3220"/>
              </a:lnSpc>
              <a:buFont typeface="Arial"/>
              <a:buChar char="•"/>
            </a:pPr>
            <a:r>
              <a:rPr lang="en-US" sz="2300">
                <a:solidFill>
                  <a:srgbClr val="FFFFFF"/>
                </a:solidFill>
                <a:latin typeface="Work Sans"/>
                <a:ea typeface="Work Sans"/>
                <a:cs typeface="Work Sans"/>
                <a:sym typeface="Work Sans"/>
              </a:rPr>
              <a:t>Ve</a:t>
            </a:r>
            <a:r>
              <a:rPr lang="en-US" sz="2300">
                <a:solidFill>
                  <a:srgbClr val="FFFFFF"/>
                </a:solidFill>
                <a:latin typeface="Work Sans"/>
                <a:ea typeface="Work Sans"/>
                <a:cs typeface="Work Sans"/>
                <a:sym typeface="Work Sans"/>
              </a:rPr>
              <a:t>rify end-to-end redaction and ensure only sanitized content reaches the LLM.</a:t>
            </a:r>
          </a:p>
          <a:p>
            <a:pPr algn="l" marL="0" indent="0" lvl="0">
              <a:lnSpc>
                <a:spcPts val="322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DAHX5RIIFYo</dc:identifier>
  <dcterms:modified xsi:type="dcterms:W3CDTF">2011-08-01T06:04:30Z</dcterms:modified>
  <cp:revision>1</cp:revision>
  <dc:title>Cybersecurity Seminar Slides</dc:title>
</cp:coreProperties>
</file>